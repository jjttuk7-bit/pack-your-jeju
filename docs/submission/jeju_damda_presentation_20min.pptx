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60796"/>
            <a:ext cx="12191695" cy="320040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6126480" y="4800600"/>
            <a:ext cx="2926080" cy="1005840"/>
          </a:xfrm>
          <a:prstGeom prst="triangle">
            <a:avLst/>
          </a:prstGeom>
          <a:solidFill>
            <a:srgbClr val="4A8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6949440" y="4480559"/>
            <a:ext cx="2468880" cy="1325880"/>
          </a:xfrm>
          <a:prstGeom prst="triangle">
            <a:avLst/>
          </a:prstGeom>
          <a:solidFill>
            <a:srgbClr val="4A8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8229600" y="5074920"/>
            <a:ext cx="1828800" cy="731520"/>
          </a:xfrm>
          <a:prstGeom prst="triangle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576011"/>
            <a:ext cx="11155680" cy="22860"/>
          </a:xfrm>
          <a:prstGeom prst="rect">
            <a:avLst/>
          </a:prstGeom>
          <a:solidFill>
            <a:srgbClr val="4A8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47548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000" b="1">
                <a:solidFill>
                  <a:srgbClr val="1F2326"/>
                </a:solidFill>
                <a:latin typeface="Malgun Gothic"/>
              </a:defRPr>
            </a:pPr>
            <a:r>
              <a:t>제주를 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74519"/>
            <a:ext cx="53035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0">
                <a:solidFill>
                  <a:srgbClr val="2E3235"/>
                </a:solidFill>
                <a:latin typeface="Malgun Gothic"/>
              </a:defRPr>
            </a:pPr>
            <a:r>
              <a:t>공공데이터와 gpt-5-mini RAG로 만드는</a:t>
            </a:r>
            <a:br/>
            <a:r>
              <a:t>제주 여행 정보 신뢰도 분석 서비스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685800"/>
            <a:ext cx="1600200" cy="320040"/>
          </a:xfrm>
          <a:prstGeom prst="roundRect">
            <a:avLst/>
          </a:prstGeom>
          <a:solidFill>
            <a:srgbClr val="FFF0E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731520"/>
            <a:ext cx="1453896" cy="24688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1">
                <a:solidFill>
                  <a:srgbClr val="E7683A"/>
                </a:solidFill>
                <a:latin typeface="Malgun Gothic"/>
              </a:defRPr>
            </a:pPr>
            <a:r>
              <a:t>신뢰 기반 제주 여행팩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005840"/>
            <a:ext cx="4389120" cy="292608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417320"/>
            <a:ext cx="356616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3000" b="1">
                <a:solidFill>
                  <a:srgbClr val="B85042"/>
                </a:solidFill>
                <a:latin typeface="Malgun Gothic"/>
              </a:defRPr>
            </a:pPr>
            <a:r>
              <a:t>“더 많은 추천보다,</a:t>
            </a:r>
            <a:br/>
            <a:r>
              <a:t>믿을 수 있는 추천”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971800"/>
            <a:ext cx="825246" cy="658368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3090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108960"/>
            <a:ext cx="322326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고르기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4958" y="320040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2118" y="2971800"/>
            <a:ext cx="825246" cy="658368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3558" y="3090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3598" y="3108960"/>
            <a:ext cx="322326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근거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4796" y="320040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91956" y="2971800"/>
            <a:ext cx="825246" cy="658368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3396" y="3090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3436" y="3108960"/>
            <a:ext cx="322326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플랜 담기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4634" y="320040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1794" y="2971800"/>
            <a:ext cx="825246" cy="658368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3234" y="3090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3274" y="3108960"/>
            <a:ext cx="322326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방문 피드백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제주 여행 정보는 많지만 믿기 어렵다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여행자가 실제로 묻는 질문은 “어디가 유명한가”가 아니라 “지금 넣어도 되는가”입니다.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883664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4983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2E3235"/>
                </a:solidFill>
                <a:latin typeface="Malgun Gothic"/>
              </a:defRPr>
            </a:pPr>
            <a:r>
              <a:t>블로그, 리뷰, 지도, 공식 포털 정보가 서로 다른 속도로 바뀜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176272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21408"/>
            <a:ext cx="4983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2E3235"/>
                </a:solidFill>
                <a:latin typeface="Malgun Gothic"/>
              </a:defRPr>
            </a:pPr>
            <a:r>
              <a:t>운영시간·주소·사진·상세정보가 낡아도 사용자는 한눈에 알기 어려움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468879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14015"/>
            <a:ext cx="4983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2E3235"/>
                </a:solidFill>
                <a:latin typeface="Malgun Gothic"/>
              </a:defRPr>
            </a:pPr>
            <a:r>
              <a:t>동행자, 날씨, 이동 조건에 따라 같은 장소도 신뢰 판단이 달라짐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691640"/>
            <a:ext cx="4297680" cy="219456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01168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핵심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423160"/>
            <a:ext cx="329184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이 장소를</a:t>
            </a:r>
            <a:br/>
            <a:r>
              <a:t>지금 내 일정에</a:t>
            </a:r>
            <a:br/>
            <a:r>
              <a:t>넣어도 되는가?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공식 데이터도 계속 수정된다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수정요청 데이터는 “여행 정보가 시간이 지나면 낡는다”는 실증 근거입니다.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194560" cy="109728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197510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E7683A"/>
                </a:solidFill>
                <a:latin typeface="Malgun Gothic"/>
              </a:defRPr>
            </a:pPr>
            <a:r>
              <a:t>1,686건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04872"/>
            <a:ext cx="197510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80" b="0">
                <a:solidFill>
                  <a:srgbClr val="6F716F"/>
                </a:solidFill>
                <a:latin typeface="Malgun Gothic"/>
              </a:defRPr>
            </a:pPr>
            <a:r>
              <a:t>비짓제주 콘텐츠 수정요청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828800"/>
            <a:ext cx="1828800" cy="109728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1965960"/>
            <a:ext cx="160934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B85042"/>
                </a:solidFill>
                <a:latin typeface="Malgun Gothic"/>
              </a:defRPr>
            </a:pPr>
            <a:r>
              <a:t>235건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2404872"/>
            <a:ext cx="160934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80" b="0">
                <a:solidFill>
                  <a:srgbClr val="6F716F"/>
                </a:solidFill>
                <a:latin typeface="Malgun Gothic"/>
              </a:defRPr>
            </a:pPr>
            <a:r>
              <a:t>운영시간/휴무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828800"/>
            <a:ext cx="1645920" cy="109728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1965960"/>
            <a:ext cx="14264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F4B942"/>
                </a:solidFill>
                <a:latin typeface="Malgun Gothic"/>
              </a:defRPr>
            </a:pPr>
            <a:r>
              <a:t>154건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2404872"/>
            <a:ext cx="14264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80" b="0">
                <a:solidFill>
                  <a:srgbClr val="6F716F"/>
                </a:solidFill>
                <a:latin typeface="Malgun Gothic"/>
              </a:defRPr>
            </a:pPr>
            <a:r>
              <a:t>메뉴/가격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828800"/>
            <a:ext cx="1645920" cy="109728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1965960"/>
            <a:ext cx="14264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4A8779"/>
                </a:solidFill>
                <a:latin typeface="Malgun Gothic"/>
              </a:defRPr>
            </a:pPr>
            <a:r>
              <a:t>91건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2404872"/>
            <a:ext cx="14264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80" b="0">
                <a:solidFill>
                  <a:srgbClr val="6F716F"/>
                </a:solidFill>
                <a:latin typeface="Malgun Gothic"/>
              </a:defRPr>
            </a:pPr>
            <a:r>
              <a:t>주소/도로명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828800"/>
            <a:ext cx="1645920" cy="109728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2288" y="1965960"/>
            <a:ext cx="142646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6FA8B8"/>
                </a:solidFill>
                <a:latin typeface="Malgun Gothic"/>
              </a:defRPr>
            </a:pPr>
            <a:r>
              <a:t>119건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404872"/>
            <a:ext cx="142646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80" b="0">
                <a:solidFill>
                  <a:srgbClr val="6F716F"/>
                </a:solidFill>
                <a:latin typeface="Malgun Gothic"/>
              </a:defRPr>
            </a:pPr>
            <a:r>
              <a:t>연락처/전화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9692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000" b="1">
                <a:solidFill>
                  <a:srgbClr val="1F2326"/>
                </a:solidFill>
                <a:latin typeface="Malgun Gothic"/>
              </a:defRPr>
            </a:pPr>
            <a:r>
              <a:t>공식 포털조차 수정된다면, 여행 추천은 “추천” 전에 “검증”이 필요합니다.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서비스 한 줄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지역·기간·동행자·순간을 고르면, 공공데이터 근거로 확인한 후보를 여행팩으로 조립합니다.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989734" cy="86868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47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1486814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지역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4406" y="205740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1566" y="1828800"/>
            <a:ext cx="1989734" cy="86868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3006" y="1947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3046" y="1965960"/>
            <a:ext cx="1486814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순간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48732" y="205740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5892" y="1828800"/>
            <a:ext cx="1989734" cy="86868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7332" y="1947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7372" y="1965960"/>
            <a:ext cx="1486814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신뢰도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3059" y="205740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40219" y="1828800"/>
            <a:ext cx="1989734" cy="86868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1659" y="1947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1699" y="1965960"/>
            <a:ext cx="1486814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플랜 담기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7385" y="205740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94545" y="1828800"/>
            <a:ext cx="1989734" cy="86868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85985" y="1947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6025" y="1965960"/>
            <a:ext cx="1486814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피드백 기록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154680"/>
            <a:ext cx="3931920" cy="1920240"/>
          </a:xfrm>
          <a:prstGeom prst="roundRect">
            <a:avLst/>
          </a:prstGeom>
          <a:solidFill>
            <a:srgbClr val="EAF4EF"/>
          </a:solidFill>
          <a:ln w="1016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17320" y="3657600"/>
            <a:ext cx="2926079" cy="960120"/>
          </a:xfrm>
          <a:prstGeom prst="ellipse">
            <a:avLst/>
          </a:prstGeom>
          <a:solidFill>
            <a:srgbClr val="FFF9EE"/>
          </a:solidFill>
          <a:ln w="1524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rc 26"/>
          <p:cNvSpPr/>
          <p:nvPr/>
        </p:nvSpPr>
        <p:spPr>
          <a:xfrm>
            <a:off x="2329891" y="3865168"/>
            <a:ext cx="1179575" cy="672084"/>
          </a:xfrm>
          <a:prstGeom prst="arc">
            <a:avLst/>
          </a:prstGeom>
          <a:ln w="25400">
            <a:solidFill>
              <a:srgbClr val="4A8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23083" y="4095597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0">
                <a:solidFill>
                  <a:srgbClr val="4A8779"/>
                </a:solidFill>
                <a:latin typeface="Malgun Gothic"/>
              </a:defRPr>
            </a:pPr>
            <a:r>
              <a:t>한라산</a:t>
            </a:r>
          </a:p>
        </p:txBody>
      </p:sp>
      <p:sp>
        <p:nvSpPr>
          <p:cNvPr id="29" name="Oval 28"/>
          <p:cNvSpPr/>
          <p:nvPr/>
        </p:nvSpPr>
        <p:spPr>
          <a:xfrm>
            <a:off x="1858060" y="4153204"/>
            <a:ext cx="237744" cy="237744"/>
          </a:xfrm>
          <a:prstGeom prst="ellipse">
            <a:avLst/>
          </a:prstGeom>
          <a:solidFill>
            <a:srgbClr val="E7683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58060" y="4189780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9460" y="4409236"/>
            <a:ext cx="6858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650" b="0">
                <a:solidFill>
                  <a:srgbClr val="2E3235"/>
                </a:solidFill>
                <a:latin typeface="Malgun Gothic"/>
              </a:defRPr>
            </a:pPr>
            <a:r>
              <a:t>한림</a:t>
            </a:r>
          </a:p>
        </p:txBody>
      </p:sp>
      <p:sp>
        <p:nvSpPr>
          <p:cNvPr id="32" name="Oval 31"/>
          <p:cNvSpPr/>
          <p:nvPr/>
        </p:nvSpPr>
        <p:spPr>
          <a:xfrm>
            <a:off x="3076956" y="3961180"/>
            <a:ext cx="237744" cy="237744"/>
          </a:xfrm>
          <a:prstGeom prst="ellipse">
            <a:avLst/>
          </a:prstGeom>
          <a:solidFill>
            <a:srgbClr val="E7683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76956" y="3997756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48356" y="4217212"/>
            <a:ext cx="6858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650" b="0">
                <a:solidFill>
                  <a:srgbClr val="2E3235"/>
                </a:solidFill>
                <a:latin typeface="Malgun Gothic"/>
              </a:defRPr>
            </a:pPr>
            <a:r>
              <a:t>제주시</a:t>
            </a:r>
          </a:p>
        </p:txBody>
      </p:sp>
      <p:sp>
        <p:nvSpPr>
          <p:cNvPr id="35" name="Oval 34"/>
          <p:cNvSpPr/>
          <p:nvPr/>
        </p:nvSpPr>
        <p:spPr>
          <a:xfrm>
            <a:off x="3981297" y="4210812"/>
            <a:ext cx="237744" cy="237744"/>
          </a:xfrm>
          <a:prstGeom prst="ellipse">
            <a:avLst/>
          </a:prstGeom>
          <a:solidFill>
            <a:srgbClr val="E7683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81297" y="4247388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52697" y="4466844"/>
            <a:ext cx="6858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650" b="0">
                <a:solidFill>
                  <a:srgbClr val="2E3235"/>
                </a:solidFill>
                <a:latin typeface="Malgun Gothic"/>
              </a:defRPr>
            </a:pPr>
            <a:r>
              <a:t>성산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0" y="3154680"/>
            <a:ext cx="5303520" cy="192024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06440" y="342900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E7683A"/>
                </a:solidFill>
                <a:latin typeface="Malgun Gothic"/>
              </a:defRPr>
            </a:pPr>
            <a:r>
              <a:t>제주를 담다의 관점</a:t>
            </a:r>
          </a:p>
        </p:txBody>
      </p:sp>
      <p:sp>
        <p:nvSpPr>
          <p:cNvPr id="40" name="Oval 39"/>
          <p:cNvSpPr/>
          <p:nvPr/>
        </p:nvSpPr>
        <p:spPr>
          <a:xfrm>
            <a:off x="5852160" y="3941063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3886200"/>
            <a:ext cx="4160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2E3235"/>
                </a:solidFill>
                <a:latin typeface="Malgun Gothic"/>
              </a:defRPr>
            </a:pPr>
            <a:r>
              <a:t>후보를 많이 보여주기보다 신뢰 상태를 먼저 보여줌</a:t>
            </a:r>
          </a:p>
        </p:txBody>
      </p:sp>
      <p:sp>
        <p:nvSpPr>
          <p:cNvPr id="42" name="Oval 41"/>
          <p:cNvSpPr/>
          <p:nvPr/>
        </p:nvSpPr>
        <p:spPr>
          <a:xfrm>
            <a:off x="5852160" y="4233672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4178808"/>
            <a:ext cx="4160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2E3235"/>
                </a:solidFill>
                <a:latin typeface="Malgun Gothic"/>
              </a:defRPr>
            </a:pPr>
            <a:r>
              <a:t>데이터가 부족하면 추천으로 채우지 않음</a:t>
            </a:r>
          </a:p>
        </p:txBody>
      </p:sp>
      <p:sp>
        <p:nvSpPr>
          <p:cNvPr id="44" name="Oval 43"/>
          <p:cNvSpPr/>
          <p:nvPr/>
        </p:nvSpPr>
        <p:spPr>
          <a:xfrm>
            <a:off x="5852160" y="4526280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4471416"/>
            <a:ext cx="4160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2E3235"/>
                </a:solidFill>
                <a:latin typeface="Malgun Gothic"/>
              </a:defRPr>
            </a:pPr>
            <a:r>
              <a:t>방문 후 기록이 다음 신뢰 신호로 이어짐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일반 GPT 추천과 무엇이 다른가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모델은 사실을 만들지 않고, 조회된 근거를 사용자가 이해할 수 있게 조립합니다.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846320" cy="292608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1">
                <a:solidFill>
                  <a:srgbClr val="B85042"/>
                </a:solidFill>
                <a:latin typeface="Malgun Gothic"/>
              </a:defRPr>
            </a:pPr>
            <a:r>
              <a:t>일반 GPT 추천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843784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88920"/>
            <a:ext cx="3611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그럴듯한 장소와 설명을 생성할 수 있음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3136391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081527"/>
            <a:ext cx="3611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출처·좌표·수정요청 여부가 불명확할 수 있음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" y="3428999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374135"/>
            <a:ext cx="3611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데이터가 없는 상황에서도 답을 채우기 쉬움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4846320" cy="2926080"/>
          </a:xfrm>
          <a:prstGeom prst="roundRect">
            <a:avLst/>
          </a:prstGeom>
          <a:solidFill>
            <a:srgbClr val="EAF4EF"/>
          </a:solidFill>
          <a:ln w="1016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148840"/>
            <a:ext cx="2194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000" b="1">
                <a:solidFill>
                  <a:srgbClr val="4A8779"/>
                </a:solidFill>
                <a:latin typeface="Malgun Gothic"/>
              </a:defRPr>
            </a:pPr>
            <a:r>
              <a:t>제주를 담다</a:t>
            </a:r>
          </a:p>
        </p:txBody>
      </p:sp>
      <p:sp>
        <p:nvSpPr>
          <p:cNvPr id="16" name="Oval 15"/>
          <p:cNvSpPr/>
          <p:nvPr/>
        </p:nvSpPr>
        <p:spPr>
          <a:xfrm>
            <a:off x="6720840" y="2843784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788920"/>
            <a:ext cx="3703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DB에 있는 장소와 출처만 사용</a:t>
            </a:r>
          </a:p>
        </p:txBody>
      </p:sp>
      <p:sp>
        <p:nvSpPr>
          <p:cNvPr id="18" name="Oval 17"/>
          <p:cNvSpPr/>
          <p:nvPr/>
        </p:nvSpPr>
        <p:spPr>
          <a:xfrm>
            <a:off x="6720840" y="3136391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81527"/>
            <a:ext cx="3703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신뢰 점수와 확인 필요 항목을 함께 표시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3428999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74135"/>
            <a:ext cx="3703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모르는 것은 공공데이터 기준 미확인으로 표시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데이터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추천의 근거를 장소·수정요청·이동·날씨·방문 피드백으로 나눠 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154680" cy="114300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01952"/>
            <a:ext cx="548640" cy="658368"/>
          </a:xfrm>
          <a:prstGeom prst="roundRect">
            <a:avLst/>
          </a:prstGeom>
          <a:solidFill>
            <a:srgbClr val="FFF0E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2039112"/>
            <a:ext cx="3291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E7683A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478024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80" b="0">
                <a:solidFill>
                  <a:srgbClr val="6F716F"/>
                </a:solidFill>
                <a:latin typeface="Malgun Gothic"/>
              </a:defRPr>
            </a:pPr>
            <a:r>
              <a:t>비짓제주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6596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F2326"/>
                </a:solidFill>
                <a:latin typeface="Malgun Gothic"/>
              </a:defRPr>
            </a:pPr>
            <a:r>
              <a:t>비짓제주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350008"/>
            <a:ext cx="2057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>
                <a:solidFill>
                  <a:srgbClr val="6F716F"/>
                </a:solidFill>
                <a:latin typeface="Malgun Gothic"/>
              </a:defRPr>
            </a:pPr>
            <a:r>
              <a:t>장소·주소·좌표·출처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737360"/>
            <a:ext cx="3154680" cy="114300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901952"/>
            <a:ext cx="548640" cy="658368"/>
          </a:xfrm>
          <a:prstGeom prst="roundRect">
            <a:avLst/>
          </a:prstGeom>
          <a:solidFill>
            <a:srgbClr val="FFF0E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039112"/>
            <a:ext cx="3291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F4B942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478024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80" b="0">
                <a:solidFill>
                  <a:srgbClr val="6F716F"/>
                </a:solidFill>
                <a:latin typeface="Malgun Gothic"/>
              </a:defRPr>
            </a:pPr>
            <a:r>
              <a:t>수정요청 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96596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F2326"/>
                </a:solidFill>
                <a:latin typeface="Malgun Gothic"/>
              </a:defRPr>
            </a:pPr>
            <a:r>
              <a:t>수정요청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350008"/>
            <a:ext cx="2057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>
                <a:solidFill>
                  <a:srgbClr val="6F716F"/>
                </a:solidFill>
                <a:latin typeface="Malgun Gothic"/>
              </a:defRPr>
            </a:pPr>
            <a:r>
              <a:t>운영시간·주소·상세정보 변화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737360"/>
            <a:ext cx="3154680" cy="114300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66760" y="1901952"/>
            <a:ext cx="548640" cy="658368"/>
          </a:xfrm>
          <a:prstGeom prst="roundRect">
            <a:avLst/>
          </a:prstGeom>
          <a:solidFill>
            <a:srgbClr val="FFF0E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2039112"/>
            <a:ext cx="3291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4A8779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2478024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80" b="0">
                <a:solidFill>
                  <a:srgbClr val="6F716F"/>
                </a:solidFill>
                <a:latin typeface="Malgun Gothic"/>
              </a:defRPr>
            </a:pPr>
            <a:r>
              <a:t>주차장/정류장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6596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F2326"/>
                </a:solidFill>
                <a:latin typeface="Malgun Gothic"/>
              </a:defRPr>
            </a:pPr>
            <a:r>
              <a:t>주차장/정류장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350008"/>
            <a:ext cx="2057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>
                <a:solidFill>
                  <a:srgbClr val="6F716F"/>
                </a:solidFill>
                <a:latin typeface="Malgun Gothic"/>
              </a:defRPr>
            </a:pPr>
            <a:r>
              <a:t>이동 가능성 신호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337560"/>
            <a:ext cx="3154680" cy="114300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" y="3502152"/>
            <a:ext cx="548640" cy="658368"/>
          </a:xfrm>
          <a:prstGeom prst="roundRect">
            <a:avLst/>
          </a:prstGeom>
          <a:solidFill>
            <a:srgbClr val="FFF0E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3639312"/>
            <a:ext cx="3291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6FA8B8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4078224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80" b="0">
                <a:solidFill>
                  <a:srgbClr val="6F716F"/>
                </a:solidFill>
                <a:latin typeface="Malgun Gothic"/>
              </a:defRPr>
            </a:pPr>
            <a:r>
              <a:t>기상청 단기예보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356616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F2326"/>
                </a:solidFill>
                <a:latin typeface="Malgun Gothic"/>
              </a:defRPr>
            </a:pPr>
            <a:r>
              <a:t>기상청 단기예보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3950208"/>
            <a:ext cx="2057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>
                <a:solidFill>
                  <a:srgbClr val="6F716F"/>
                </a:solidFill>
                <a:latin typeface="Malgun Gothic"/>
              </a:defRPr>
            </a:pPr>
            <a:r>
              <a:t>여행 기간 날씨 신호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3337560"/>
            <a:ext cx="3154680" cy="114300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63440" y="3502152"/>
            <a:ext cx="548640" cy="658368"/>
          </a:xfrm>
          <a:prstGeom prst="roundRect">
            <a:avLst/>
          </a:prstGeom>
          <a:solidFill>
            <a:srgbClr val="FFF0E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8" y="3639312"/>
            <a:ext cx="329184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2F8F7B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4078224"/>
            <a:ext cx="3291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80" b="0">
                <a:solidFill>
                  <a:srgbClr val="6F716F"/>
                </a:solidFill>
                <a:latin typeface="Malgun Gothic"/>
              </a:defRPr>
            </a:pPr>
            <a:r>
              <a:t>방문 피드백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356616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F2326"/>
                </a:solidFill>
                <a:latin typeface="Malgun Gothic"/>
              </a:defRPr>
            </a:pPr>
            <a:r>
              <a:t>방문 피드백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3950208"/>
            <a:ext cx="2057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>
                <a:solidFill>
                  <a:srgbClr val="6F716F"/>
                </a:solidFill>
                <a:latin typeface="Malgun Gothic"/>
              </a:defRPr>
            </a:pPr>
            <a:r>
              <a:t>다녀온 뒤 신뢰도 변화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RAG와 모델 활용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gpt-5-mini 하나를 자유 생성기가 아니라 근거 조립기로 사용합니다.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668780" cy="82296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47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1658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사용자 조건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2012" y="205740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9172" y="1828800"/>
            <a:ext cx="1668780" cy="82296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0612" y="1947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0652" y="1965960"/>
            <a:ext cx="11658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구조화 필터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4" y="205740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828800"/>
            <a:ext cx="1668780" cy="82296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1947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1965960"/>
            <a:ext cx="11658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DB 검색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8756" y="205740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5916" y="1828800"/>
            <a:ext cx="1668780" cy="82296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7355" y="1947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7396" y="1965960"/>
            <a:ext cx="11658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Trust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205740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9288" y="1828800"/>
            <a:ext cx="1668780" cy="82296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7" y="1947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1965960"/>
            <a:ext cx="11658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gpt-5-mini 요약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499" y="205740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52659" y="1828800"/>
            <a:ext cx="1668780" cy="82296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44099" y="1947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4139" y="1965960"/>
            <a:ext cx="116586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근거 기반 UI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246120"/>
            <a:ext cx="4754880" cy="146304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352044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E7683A"/>
                </a:solidFill>
                <a:latin typeface="Malgun Gothic"/>
              </a:defRPr>
            </a:pPr>
            <a:r>
              <a:t>모델이 하지 않는 일</a:t>
            </a:r>
          </a:p>
        </p:txBody>
      </p:sp>
      <p:sp>
        <p:nvSpPr>
          <p:cNvPr id="31" name="Oval 30"/>
          <p:cNvSpPr/>
          <p:nvPr/>
        </p:nvSpPr>
        <p:spPr>
          <a:xfrm>
            <a:off x="1234440" y="3968496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40" y="3913632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E3235"/>
                </a:solidFill>
                <a:latin typeface="Malgun Gothic"/>
              </a:defRPr>
            </a:pPr>
            <a:r>
              <a:t>장소명 생성</a:t>
            </a:r>
          </a:p>
        </p:txBody>
      </p:sp>
      <p:sp>
        <p:nvSpPr>
          <p:cNvPr id="33" name="Oval 32"/>
          <p:cNvSpPr/>
          <p:nvPr/>
        </p:nvSpPr>
        <p:spPr>
          <a:xfrm>
            <a:off x="1234440" y="4261104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3040" y="4206240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E3235"/>
                </a:solidFill>
                <a:latin typeface="Malgun Gothic"/>
              </a:defRPr>
            </a:pPr>
            <a:r>
              <a:t>주소·좌표 생성</a:t>
            </a:r>
          </a:p>
        </p:txBody>
      </p:sp>
      <p:sp>
        <p:nvSpPr>
          <p:cNvPr id="35" name="Oval 34"/>
          <p:cNvSpPr/>
          <p:nvPr/>
        </p:nvSpPr>
        <p:spPr>
          <a:xfrm>
            <a:off x="1234440" y="4553712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63040" y="4498848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E3235"/>
                </a:solidFill>
                <a:latin typeface="Malgun Gothic"/>
              </a:defRPr>
            </a:pPr>
            <a:r>
              <a:t>운영시간 단정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246120"/>
            <a:ext cx="4572000" cy="1463040"/>
          </a:xfrm>
          <a:prstGeom prst="roundRect">
            <a:avLst/>
          </a:prstGeom>
          <a:solidFill>
            <a:srgbClr val="EAF4EF"/>
          </a:solidFill>
          <a:ln w="1016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352044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4A8779"/>
                </a:solidFill>
                <a:latin typeface="Malgun Gothic"/>
              </a:defRPr>
            </a:pPr>
            <a:r>
              <a:t>모델이 하는 일</a:t>
            </a:r>
          </a:p>
        </p:txBody>
      </p:sp>
      <p:sp>
        <p:nvSpPr>
          <p:cNvPr id="39" name="Oval 38"/>
          <p:cNvSpPr/>
          <p:nvPr/>
        </p:nvSpPr>
        <p:spPr>
          <a:xfrm>
            <a:off x="6720840" y="3968496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3913632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E3235"/>
                </a:solidFill>
                <a:latin typeface="Malgun Gothic"/>
              </a:defRPr>
            </a:pPr>
            <a:r>
              <a:t>근거 요약</a:t>
            </a:r>
          </a:p>
        </p:txBody>
      </p:sp>
      <p:sp>
        <p:nvSpPr>
          <p:cNvPr id="41" name="Oval 40"/>
          <p:cNvSpPr/>
          <p:nvPr/>
        </p:nvSpPr>
        <p:spPr>
          <a:xfrm>
            <a:off x="6720840" y="4261104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4206240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E3235"/>
                </a:solidFill>
                <a:latin typeface="Malgun Gothic"/>
              </a:defRPr>
            </a:pPr>
            <a:r>
              <a:t>검증 설명</a:t>
            </a:r>
          </a:p>
        </p:txBody>
      </p:sp>
      <p:sp>
        <p:nvSpPr>
          <p:cNvPr id="43" name="Oval 42"/>
          <p:cNvSpPr/>
          <p:nvPr/>
        </p:nvSpPr>
        <p:spPr>
          <a:xfrm>
            <a:off x="6720840" y="4553712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4498848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E3235"/>
                </a:solidFill>
                <a:latin typeface="Malgun Gothic"/>
              </a:defRPr>
            </a:pPr>
            <a:r>
              <a:t>하루방 브리핑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TRUST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신뢰도는 점수 하나가 아니라 근거 묶음입니다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사용자가 점수의 이유를 볼 수 있어야 설득력이 생깁니다.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2331720" cy="77724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29384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1">
                <a:solidFill>
                  <a:srgbClr val="1F2326"/>
                </a:solidFill>
                <a:latin typeface="Malgun Gothic"/>
              </a:defRPr>
            </a:pPr>
            <a:r>
              <a:t>공공데이터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79" y="1691640"/>
            <a:ext cx="2331720" cy="77724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929384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1">
                <a:solidFill>
                  <a:srgbClr val="1F2326"/>
                </a:solidFill>
                <a:latin typeface="Malgun Gothic"/>
              </a:defRPr>
            </a:pPr>
            <a:r>
              <a:t>수정요청 이력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91640"/>
            <a:ext cx="2331720" cy="77724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929384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1">
                <a:solidFill>
                  <a:srgbClr val="1F2326"/>
                </a:solidFill>
                <a:latin typeface="Malgun Gothic"/>
              </a:defRPr>
            </a:pPr>
            <a:r>
              <a:t>사용자 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19" y="1691640"/>
            <a:ext cx="2331720" cy="77724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1929384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1">
                <a:solidFill>
                  <a:srgbClr val="1F2326"/>
                </a:solidFill>
                <a:latin typeface="Malgun Gothic"/>
              </a:defRPr>
            </a:pPr>
            <a:r>
              <a:t>날씨 민감도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926080"/>
            <a:ext cx="2331720" cy="77724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163824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1">
                <a:solidFill>
                  <a:srgbClr val="1F2326"/>
                </a:solidFill>
                <a:latin typeface="Malgun Gothic"/>
              </a:defRPr>
            </a:pPr>
            <a:r>
              <a:t>이동 가능성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79" y="2926080"/>
            <a:ext cx="2331720" cy="77724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3163824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1">
                <a:solidFill>
                  <a:srgbClr val="1F2326"/>
                </a:solidFill>
                <a:latin typeface="Malgun Gothic"/>
              </a:defRPr>
            </a:pPr>
            <a:r>
              <a:t>방문 피드백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926080"/>
            <a:ext cx="2331720" cy="77724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163824"/>
            <a:ext cx="1920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1">
                <a:solidFill>
                  <a:srgbClr val="1F2326"/>
                </a:solidFill>
                <a:latin typeface="Malgun Gothic"/>
              </a:defRPr>
            </a:pPr>
            <a:r>
              <a:t>최근성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572000"/>
            <a:ext cx="5303520" cy="777240"/>
          </a:xfrm>
          <a:prstGeom prst="roundRect">
            <a:avLst/>
          </a:prstGeom>
          <a:solidFill>
            <a:srgbClr val="FFF0E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4800600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>
                <a:solidFill>
                  <a:srgbClr val="B85042"/>
                </a:solidFill>
                <a:latin typeface="Malgun Gothic"/>
              </a:defRPr>
            </a:pPr>
            <a:r>
              <a:t>UI 표현: 신뢰 점수 + 배지 + 확인 필요 항목 + 출처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데모 1: 지역 신뢰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추천 전 단계에서 지역별 데이터 커버리지를 먼저 보여줍니다.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4754880" cy="3017520"/>
          </a:xfrm>
          <a:prstGeom prst="roundRect">
            <a:avLst/>
          </a:prstGeom>
          <a:solidFill>
            <a:srgbClr val="EAF4EF"/>
          </a:solidFill>
          <a:ln w="1016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194560"/>
            <a:ext cx="3749039" cy="2057400"/>
          </a:xfrm>
          <a:prstGeom prst="ellipse">
            <a:avLst/>
          </a:prstGeom>
          <a:solidFill>
            <a:srgbClr val="FFF9EE"/>
          </a:solidFill>
          <a:ln w="1524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2580436" y="2808122"/>
            <a:ext cx="1426464" cy="1056131"/>
          </a:xfrm>
          <a:prstGeom prst="arc">
            <a:avLst/>
          </a:prstGeom>
          <a:ln w="25400">
            <a:solidFill>
              <a:srgbClr val="4A8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5924" y="3170224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0">
                <a:solidFill>
                  <a:srgbClr val="4A8779"/>
                </a:solidFill>
                <a:latin typeface="Malgun Gothic"/>
              </a:defRPr>
            </a:pPr>
            <a:r>
              <a:t>한라산</a:t>
            </a:r>
          </a:p>
        </p:txBody>
      </p:sp>
      <p:sp>
        <p:nvSpPr>
          <p:cNvPr id="10" name="Oval 9"/>
          <p:cNvSpPr/>
          <p:nvPr/>
        </p:nvSpPr>
        <p:spPr>
          <a:xfrm>
            <a:off x="1914753" y="3260750"/>
            <a:ext cx="237744" cy="237744"/>
          </a:xfrm>
          <a:prstGeom prst="ellipse">
            <a:avLst/>
          </a:prstGeom>
          <a:solidFill>
            <a:srgbClr val="E7683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4753" y="3297326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6153" y="3516782"/>
            <a:ext cx="6858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650" b="0">
                <a:solidFill>
                  <a:srgbClr val="2E3235"/>
                </a:solidFill>
                <a:latin typeface="Malgun Gothic"/>
              </a:defRPr>
            </a:pPr>
            <a:r>
              <a:t>한림</a:t>
            </a:r>
          </a:p>
        </p:txBody>
      </p:sp>
      <p:sp>
        <p:nvSpPr>
          <p:cNvPr id="13" name="Oval 12"/>
          <p:cNvSpPr/>
          <p:nvPr/>
        </p:nvSpPr>
        <p:spPr>
          <a:xfrm>
            <a:off x="3151022" y="2958998"/>
            <a:ext cx="237744" cy="237744"/>
          </a:xfrm>
          <a:prstGeom prst="ellipse">
            <a:avLst/>
          </a:prstGeom>
          <a:solidFill>
            <a:srgbClr val="E7683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1022" y="2995574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2422" y="3215030"/>
            <a:ext cx="6858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650" b="0">
                <a:solidFill>
                  <a:srgbClr val="2E3235"/>
                </a:solidFill>
                <a:latin typeface="Malgun Gothic"/>
              </a:defRPr>
            </a:pPr>
            <a:r>
              <a:t>애월</a:t>
            </a:r>
          </a:p>
        </p:txBody>
      </p:sp>
      <p:sp>
        <p:nvSpPr>
          <p:cNvPr id="16" name="Oval 15"/>
          <p:cNvSpPr/>
          <p:nvPr/>
        </p:nvSpPr>
        <p:spPr>
          <a:xfrm>
            <a:off x="4292193" y="2747772"/>
            <a:ext cx="237744" cy="237744"/>
          </a:xfrm>
          <a:prstGeom prst="ellipse">
            <a:avLst/>
          </a:prstGeom>
          <a:solidFill>
            <a:srgbClr val="E7683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2193" y="2784348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3593" y="3003804"/>
            <a:ext cx="6858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650" b="0">
                <a:solidFill>
                  <a:srgbClr val="2E3235"/>
                </a:solidFill>
                <a:latin typeface="Malgun Gothic"/>
              </a:defRPr>
            </a:pPr>
            <a:r>
              <a:t>조천</a:t>
            </a:r>
          </a:p>
        </p:txBody>
      </p:sp>
      <p:sp>
        <p:nvSpPr>
          <p:cNvPr id="19" name="Oval 18"/>
          <p:cNvSpPr/>
          <p:nvPr/>
        </p:nvSpPr>
        <p:spPr>
          <a:xfrm>
            <a:off x="4862779" y="3290925"/>
            <a:ext cx="237744" cy="237744"/>
          </a:xfrm>
          <a:prstGeom prst="ellipse">
            <a:avLst/>
          </a:prstGeom>
          <a:solidFill>
            <a:srgbClr val="E7683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2779" y="3327501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4179" y="3546957"/>
            <a:ext cx="6858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650" b="0">
                <a:solidFill>
                  <a:srgbClr val="2E3235"/>
                </a:solidFill>
                <a:latin typeface="Malgun Gothic"/>
              </a:defRPr>
            </a:pPr>
            <a:r>
              <a:t>성산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691640"/>
            <a:ext cx="4480560" cy="301752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1993392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E7683A"/>
                </a:solidFill>
                <a:latin typeface="Malgun Gothic"/>
              </a:defRPr>
            </a:pPr>
            <a:r>
              <a:t>시연 포인트</a:t>
            </a:r>
          </a:p>
        </p:txBody>
      </p:sp>
      <p:sp>
        <p:nvSpPr>
          <p:cNvPr id="24" name="Oval 23"/>
          <p:cNvSpPr/>
          <p:nvPr/>
        </p:nvSpPr>
        <p:spPr>
          <a:xfrm>
            <a:off x="6720840" y="2523744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2468880"/>
            <a:ext cx="3429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제주 지역 지도에서 지역 선택</a:t>
            </a:r>
          </a:p>
        </p:txBody>
      </p:sp>
      <p:sp>
        <p:nvSpPr>
          <p:cNvPr id="26" name="Oval 25"/>
          <p:cNvSpPr/>
          <p:nvPr/>
        </p:nvSpPr>
        <p:spPr>
          <a:xfrm>
            <a:off x="6720840" y="2816352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761488"/>
            <a:ext cx="3429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추천 가능한 순간 확인</a:t>
            </a:r>
          </a:p>
        </p:txBody>
      </p:sp>
      <p:sp>
        <p:nvSpPr>
          <p:cNvPr id="28" name="Oval 27"/>
          <p:cNvSpPr/>
          <p:nvPr/>
        </p:nvSpPr>
        <p:spPr>
          <a:xfrm>
            <a:off x="6720840" y="3108960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3054096"/>
            <a:ext cx="3429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데이터 부족 조합 확인</a:t>
            </a:r>
          </a:p>
        </p:txBody>
      </p:sp>
      <p:sp>
        <p:nvSpPr>
          <p:cNvPr id="30" name="Oval 29"/>
          <p:cNvSpPr/>
          <p:nvPr/>
        </p:nvSpPr>
        <p:spPr>
          <a:xfrm>
            <a:off x="6720840" y="3401568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3346703"/>
            <a:ext cx="3429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실제 후보와 주의 신호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데모 2: 팩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후보 카드마다 “왜 확인이 필요한지”를 함께 보여줍니다.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645919" cy="73152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56231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1142999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지역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1" y="196596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2032" y="1737360"/>
            <a:ext cx="1645919" cy="73152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856231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1874519"/>
            <a:ext cx="1142999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날짜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4" y="196596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737360"/>
            <a:ext cx="1645919" cy="73152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1856231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1874519"/>
            <a:ext cx="1142999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동행자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5896" y="196596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5" y="1737360"/>
            <a:ext cx="1645919" cy="73152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5" y="1856231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1874519"/>
            <a:ext cx="1142999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목적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7" y="196596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7" y="1737360"/>
            <a:ext cx="1645919" cy="73152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7" y="1856231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7" y="1874519"/>
            <a:ext cx="1142999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순간 카드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19" y="196596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1737360"/>
            <a:ext cx="1645919" cy="73152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1856231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59" y="1874519"/>
            <a:ext cx="1142999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내 팩 생성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2926080"/>
            <a:ext cx="3154680" cy="141732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3200400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1F2326"/>
                </a:solidFill>
                <a:latin typeface="Malgun Gothic"/>
              </a:defRPr>
            </a:pPr>
            <a:r>
              <a:t>후보 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657600"/>
            <a:ext cx="25146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F716F"/>
                </a:solidFill>
                <a:latin typeface="Malgun Gothic"/>
              </a:defRPr>
            </a:pPr>
            <a:r>
              <a:t>공대오름 · 신뢰 67</a:t>
            </a:r>
            <a:br/>
            <a:r>
              <a:t>확인 필요: 공공데이터 반증 확인 · 날씨 영향 확인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17720" y="2926080"/>
            <a:ext cx="3154680" cy="1417320"/>
          </a:xfrm>
          <a:prstGeom prst="roundRect">
            <a:avLst/>
          </a:prstGeom>
          <a:solidFill>
            <a:srgbClr val="EAF4EF"/>
          </a:solidFill>
          <a:ln w="1016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3200400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4A8779"/>
                </a:solidFill>
                <a:latin typeface="Malgun Gothic"/>
              </a:defRPr>
            </a:pPr>
            <a:r>
              <a:t>신뢰 정보</a:t>
            </a:r>
          </a:p>
        </p:txBody>
      </p:sp>
      <p:sp>
        <p:nvSpPr>
          <p:cNvPr id="34" name="Oval 33"/>
          <p:cNvSpPr/>
          <p:nvPr/>
        </p:nvSpPr>
        <p:spPr>
          <a:xfrm>
            <a:off x="4892040" y="3666744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3611880"/>
            <a:ext cx="1965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2E3235"/>
                </a:solidFill>
                <a:latin typeface="Malgun Gothic"/>
              </a:defRPr>
            </a:pPr>
            <a:r>
              <a:t>출처</a:t>
            </a:r>
          </a:p>
        </p:txBody>
      </p:sp>
      <p:sp>
        <p:nvSpPr>
          <p:cNvPr id="36" name="Oval 35"/>
          <p:cNvSpPr/>
          <p:nvPr/>
        </p:nvSpPr>
        <p:spPr>
          <a:xfrm>
            <a:off x="4892040" y="3959352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3904488"/>
            <a:ext cx="1965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2E3235"/>
                </a:solidFill>
                <a:latin typeface="Malgun Gothic"/>
              </a:defRPr>
            </a:pPr>
            <a:r>
              <a:t>점수</a:t>
            </a:r>
          </a:p>
        </p:txBody>
      </p:sp>
      <p:sp>
        <p:nvSpPr>
          <p:cNvPr id="38" name="Oval 37"/>
          <p:cNvSpPr/>
          <p:nvPr/>
        </p:nvSpPr>
        <p:spPr>
          <a:xfrm>
            <a:off x="4892040" y="4251960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4197096"/>
            <a:ext cx="1965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2E3235"/>
                </a:solidFill>
                <a:latin typeface="Malgun Gothic"/>
              </a:defRPr>
            </a:pPr>
            <a:r>
              <a:t>확인 필요 항목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75320" y="2926080"/>
            <a:ext cx="2560320" cy="1417320"/>
          </a:xfrm>
          <a:prstGeom prst="roundRect">
            <a:avLst/>
          </a:prstGeom>
          <a:solidFill>
            <a:srgbClr val="FFF0E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9640" y="320040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E7683A"/>
                </a:solidFill>
                <a:latin typeface="Malgun Gothic"/>
              </a:defRPr>
            </a:pPr>
            <a:r>
              <a:t>플랜 담기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3657600"/>
            <a:ext cx="1874519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6F716F"/>
                </a:solidFill>
                <a:latin typeface="Malgun Gothic"/>
              </a:defRPr>
            </a:pPr>
            <a:r>
              <a:t>후보 → 실제 일정 후보로 전환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데모 3: 날씨와 이동 신호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여행 판단은 장소 정보만으로 끝나지 않습니다.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4846320" cy="274320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E7683A"/>
                </a:solidFill>
                <a:latin typeface="Malgun Gothic"/>
              </a:defRPr>
            </a:pPr>
            <a:r>
              <a:t>여행 기간 예보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660904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06040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7월 9일 15시 예보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2953512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898648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7월 10일 15시 예보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" y="3246120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191256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7월 11일 15시 예보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" y="3538727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483863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흐림·바람 확인·강수확률 표시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737360"/>
            <a:ext cx="4663440" cy="2743200"/>
          </a:xfrm>
          <a:prstGeom prst="roundRect">
            <a:avLst/>
          </a:prstGeom>
          <a:solidFill>
            <a:srgbClr val="EAF4EF"/>
          </a:solidFill>
          <a:ln w="1016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05740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4A8779"/>
                </a:solidFill>
                <a:latin typeface="Malgun Gothic"/>
              </a:defRPr>
            </a:pPr>
            <a:r>
              <a:t>이동 가능성</a:t>
            </a:r>
          </a:p>
        </p:txBody>
      </p:sp>
      <p:sp>
        <p:nvSpPr>
          <p:cNvPr id="18" name="Oval 17"/>
          <p:cNvSpPr/>
          <p:nvPr/>
        </p:nvSpPr>
        <p:spPr>
          <a:xfrm>
            <a:off x="6720840" y="2660904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2606040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주차장 근접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2953512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898648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정류장 근접</a:t>
            </a:r>
          </a:p>
        </p:txBody>
      </p:sp>
      <p:sp>
        <p:nvSpPr>
          <p:cNvPr id="22" name="Oval 21"/>
          <p:cNvSpPr/>
          <p:nvPr/>
        </p:nvSpPr>
        <p:spPr>
          <a:xfrm>
            <a:off x="6720840" y="3246120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191256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부모님/가족 동행 시 확인 필요</a:t>
            </a:r>
          </a:p>
        </p:txBody>
      </p:sp>
      <p:sp>
        <p:nvSpPr>
          <p:cNvPr id="24" name="Oval 23"/>
          <p:cNvSpPr/>
          <p:nvPr/>
        </p:nvSpPr>
        <p:spPr>
          <a:xfrm>
            <a:off x="6720840" y="3538727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3483863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오름·바다 산책은 바람/비 영향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데모 4: 플랜 담기와 지도 마커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추천 후보가 실제 여행 계획으로 전환되는 순간입니다.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5029200" cy="3200400"/>
          </a:xfrm>
          <a:prstGeom prst="roundRect">
            <a:avLst/>
          </a:prstGeom>
          <a:solidFill>
            <a:srgbClr val="EAF4EF"/>
          </a:solidFill>
          <a:ln w="1016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2103120"/>
            <a:ext cx="4023360" cy="2240280"/>
          </a:xfrm>
          <a:prstGeom prst="ellipse">
            <a:avLst/>
          </a:prstGeom>
          <a:solidFill>
            <a:srgbClr val="FFF9EE"/>
          </a:solidFill>
          <a:ln w="1524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2679191" y="2784348"/>
            <a:ext cx="1508760" cy="1120139"/>
          </a:xfrm>
          <a:prstGeom prst="arc">
            <a:avLst/>
          </a:prstGeom>
          <a:ln w="25400">
            <a:solidFill>
              <a:srgbClr val="4A8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82112" y="3168396"/>
            <a:ext cx="5486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0">
                <a:solidFill>
                  <a:srgbClr val="4A8779"/>
                </a:solidFill>
                <a:latin typeface="Malgun Gothic"/>
              </a:defRPr>
            </a:pPr>
            <a:r>
              <a:t>한라산</a:t>
            </a:r>
          </a:p>
        </p:txBody>
      </p:sp>
      <p:sp>
        <p:nvSpPr>
          <p:cNvPr id="10" name="Oval 9"/>
          <p:cNvSpPr/>
          <p:nvPr/>
        </p:nvSpPr>
        <p:spPr>
          <a:xfrm>
            <a:off x="2980944" y="3040380"/>
            <a:ext cx="237744" cy="237744"/>
          </a:xfrm>
          <a:prstGeom prst="ellipse">
            <a:avLst/>
          </a:prstGeom>
          <a:solidFill>
            <a:srgbClr val="E7683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3076956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2344" y="3296412"/>
            <a:ext cx="6858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650" b="0">
                <a:solidFill>
                  <a:srgbClr val="2E3235"/>
                </a:solidFill>
                <a:latin typeface="Malgun Gothic"/>
              </a:defRPr>
            </a:pPr>
            <a:r>
              <a:t>공대</a:t>
            </a:r>
          </a:p>
        </p:txBody>
      </p:sp>
      <p:sp>
        <p:nvSpPr>
          <p:cNvPr id="13" name="Oval 12"/>
          <p:cNvSpPr/>
          <p:nvPr/>
        </p:nvSpPr>
        <p:spPr>
          <a:xfrm>
            <a:off x="4489704" y="3008376"/>
            <a:ext cx="237744" cy="237744"/>
          </a:xfrm>
          <a:prstGeom prst="ellipse">
            <a:avLst/>
          </a:prstGeom>
          <a:solidFill>
            <a:srgbClr val="E7683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3044952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3264408"/>
            <a:ext cx="6858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650" b="0">
                <a:solidFill>
                  <a:srgbClr val="2E3235"/>
                </a:solidFill>
                <a:latin typeface="Malgun Gothic"/>
              </a:defRPr>
            </a:pPr>
            <a:r>
              <a:t>뒤굽</a:t>
            </a:r>
          </a:p>
        </p:txBody>
      </p:sp>
      <p:sp>
        <p:nvSpPr>
          <p:cNvPr id="16" name="Oval 15"/>
          <p:cNvSpPr/>
          <p:nvPr/>
        </p:nvSpPr>
        <p:spPr>
          <a:xfrm>
            <a:off x="4791456" y="3520440"/>
            <a:ext cx="237744" cy="237744"/>
          </a:xfrm>
          <a:prstGeom prst="ellipse">
            <a:avLst/>
          </a:prstGeom>
          <a:solidFill>
            <a:srgbClr val="E7683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456" y="3557016"/>
            <a:ext cx="237744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3776472"/>
            <a:ext cx="6858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650" b="0">
                <a:solidFill>
                  <a:srgbClr val="2E3235"/>
                </a:solidFill>
                <a:latin typeface="Malgun Gothic"/>
              </a:defRPr>
            </a:pPr>
            <a:r>
              <a:t>대수산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600200"/>
            <a:ext cx="4480560" cy="320040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1920240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E7683A"/>
                </a:solidFill>
                <a:latin typeface="Malgun Gothic"/>
              </a:defRPr>
            </a:pPr>
            <a:r>
              <a:t>시연 포인트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2478024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2423160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2E3235"/>
                </a:solidFill>
                <a:latin typeface="Malgun Gothic"/>
              </a:defRPr>
            </a:pPr>
            <a:r>
              <a:t>후보를 내 여행플랜에 담기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2770632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715768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2E3235"/>
                </a:solidFill>
                <a:latin typeface="Malgun Gothic"/>
              </a:defRPr>
            </a:pPr>
            <a:r>
              <a:t>플랜 장소를 지도 마커로 확인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3063239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008375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2E3235"/>
                </a:solidFill>
                <a:latin typeface="Malgun Gothic"/>
              </a:defRPr>
            </a:pPr>
            <a:r>
              <a:t>네이버 인증 실패 시 간이 지도 fallback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3355847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00983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2E3235"/>
                </a:solidFill>
                <a:latin typeface="Malgun Gothic"/>
              </a:defRPr>
            </a:pPr>
            <a:r>
              <a:t>좌표가 없는 직접 추가 장소는 주소로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데모 5: 방문 피드백과 신뢰도 업데이트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제안서 핵심 문장: 다녀올수록 신뢰도가 자란다.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414015" cy="82296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65960"/>
            <a:ext cx="1911095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방문 후 상태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7" y="205740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828800"/>
            <a:ext cx="2414015" cy="82296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947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1965960"/>
            <a:ext cx="1911095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피드백 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4455" y="205740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1828800"/>
            <a:ext cx="2414015" cy="82296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5" y="1947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1965960"/>
            <a:ext cx="1911095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신뢰도 변화 예측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3" y="2057400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4A8779"/>
                </a:solidFill>
                <a:latin typeface="Malgun Gothic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50224" y="1828800"/>
            <a:ext cx="2414015" cy="82296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1663" y="1947672"/>
            <a:ext cx="2743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>
                <a:solidFill>
                  <a:srgbClr val="E7683A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1703" y="1965960"/>
            <a:ext cx="1911095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50" b="1">
                <a:solidFill>
                  <a:srgbClr val="2E3235"/>
                </a:solidFill>
                <a:latin typeface="Malgun Gothic"/>
              </a:defRPr>
            </a:pPr>
            <a:r>
              <a:t>수정요청 큐 기록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3291840"/>
            <a:ext cx="2743200" cy="123444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3611880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2F8F7B"/>
                </a:solidFill>
                <a:latin typeface="Malgun Gothic"/>
              </a:defRPr>
            </a:pPr>
            <a:r>
              <a:t>방문함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977639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F2326"/>
                </a:solidFill>
                <a:latin typeface="Malgun Gothic"/>
              </a:defRPr>
            </a:pPr>
            <a:r>
              <a:t>72 → 76점 예측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291840"/>
            <a:ext cx="2743200" cy="123444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3611880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E7683A"/>
                </a:solidFill>
                <a:latin typeface="Malgun Gothic"/>
              </a:defRPr>
            </a:pPr>
            <a:r>
              <a:t>정보 다름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977639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F2326"/>
                </a:solidFill>
                <a:latin typeface="Malgun Gothic"/>
              </a:defRPr>
            </a:pPr>
            <a:r>
              <a:t>78 → 69점 예측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291840"/>
            <a:ext cx="2743200" cy="1234440"/>
          </a:xfrm>
          <a:prstGeom prst="roundRect">
            <a:avLst/>
          </a:prstGeom>
          <a:solidFill>
            <a:srgbClr val="FFF0E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611880"/>
            <a:ext cx="1645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B85042"/>
                </a:solidFill>
                <a:latin typeface="Malgun Gothic"/>
              </a:defRPr>
            </a:pPr>
            <a:r>
              <a:t>수정요청 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977639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6F716F"/>
                </a:solidFill>
                <a:latin typeface="Malgun Gothic"/>
              </a:defRPr>
            </a:pPr>
            <a:r>
              <a:t>공공데이터와 분리 저장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데모 6: 리뷰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후기 문장을 원본 데이터와 대조해 판단합니다.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4663440" cy="246888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E7683A"/>
                </a:solidFill>
                <a:latin typeface="Malgun Gothic"/>
              </a:defRPr>
            </a:pPr>
            <a:r>
              <a:t>입력 리뷰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06040"/>
            <a:ext cx="38404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>
                <a:solidFill>
                  <a:srgbClr val="1F2326"/>
                </a:solidFill>
                <a:latin typeface="Malgun Gothic"/>
              </a:defRPr>
            </a:pPr>
            <a:r>
              <a:t>“여기 영업 중이고, 우도 등대에서 노을 보면 인생샷 건집니다.”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737360"/>
            <a:ext cx="4663440" cy="2468880"/>
          </a:xfrm>
          <a:prstGeom prst="roundRect">
            <a:avLst/>
          </a:prstGeom>
          <a:solidFill>
            <a:srgbClr val="EAF4EF"/>
          </a:solidFill>
          <a:ln w="1016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05740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4A8779"/>
                </a:solidFill>
                <a:latin typeface="Malgun Gothic"/>
              </a:defRPr>
            </a:pPr>
            <a:r>
              <a:t>검증 결과</a:t>
            </a:r>
          </a:p>
        </p:txBody>
      </p:sp>
      <p:sp>
        <p:nvSpPr>
          <p:cNvPr id="11" name="Oval 10"/>
          <p:cNvSpPr/>
          <p:nvPr/>
        </p:nvSpPr>
        <p:spPr>
          <a:xfrm>
            <a:off x="6720840" y="2660904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40"/>
            <a:ext cx="3337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claim 분해</a:t>
            </a:r>
          </a:p>
        </p:txBody>
      </p:sp>
      <p:sp>
        <p:nvSpPr>
          <p:cNvPr id="13" name="Oval 12"/>
          <p:cNvSpPr/>
          <p:nvPr/>
        </p:nvSpPr>
        <p:spPr>
          <a:xfrm>
            <a:off x="6720840" y="2953512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898648"/>
            <a:ext cx="3337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확인됨 / 주의 / 미확인 판정</a:t>
            </a:r>
          </a:p>
        </p:txBody>
      </p:sp>
      <p:sp>
        <p:nvSpPr>
          <p:cNvPr id="15" name="Oval 14"/>
          <p:cNvSpPr/>
          <p:nvPr/>
        </p:nvSpPr>
        <p:spPr>
          <a:xfrm>
            <a:off x="6720840" y="3246120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191256"/>
            <a:ext cx="33375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출처와 판단 이유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서비스 견고성과 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좋은 모델보다 중요한 것은 죽지 않고, 키를 새지 않게, 설명 가능하게 동작하는 서비스입니다.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331720" cy="219456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800" b="1">
                <a:solidFill>
                  <a:srgbClr val="E7683A"/>
                </a:solidFill>
                <a:latin typeface="Malgun Gothic"/>
              </a:defRPr>
            </a:pPr>
            <a:r>
              <a:t>배포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34640"/>
            <a:ext cx="1828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Vercel Web</a:t>
            </a:r>
            <a:br/>
            <a:r>
              <a:t>Railway API/DB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1920240"/>
            <a:ext cx="2331720" cy="219456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59" y="2240280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800" b="1">
                <a:solidFill>
                  <a:srgbClr val="E7683A"/>
                </a:solidFill>
                <a:latin typeface="Malgun Gothic"/>
              </a:defRPr>
            </a:pPr>
            <a:r>
              <a:t>폴백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2834640"/>
            <a:ext cx="1828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OpenAI 키 없음</a:t>
            </a:r>
            <a:br/>
            <a:r>
              <a:t>지도 인증 실패</a:t>
            </a:r>
            <a:br/>
            <a:r>
              <a:t>날씨 API 실패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2331720" cy="219456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40280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800" b="1">
                <a:solidFill>
                  <a:srgbClr val="E7683A"/>
                </a:solidFill>
                <a:latin typeface="Malgun Gothic"/>
              </a:defRPr>
            </a:pPr>
            <a:r>
              <a:t>보안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34640"/>
            <a:ext cx="1828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키는 환경변수</a:t>
            </a:r>
            <a:br/>
            <a:r>
              <a:t>GitHub에는 예시만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1920240"/>
            <a:ext cx="2331720" cy="219456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599" y="2240280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800" b="1">
                <a:solidFill>
                  <a:srgbClr val="E7683A"/>
                </a:solidFill>
                <a:latin typeface="Malgun Gothic"/>
              </a:defRPr>
            </a:pPr>
            <a:r>
              <a:t>데모 안정성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2834640"/>
            <a:ext cx="1828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간이 지도</a:t>
            </a:r>
            <a:br/>
            <a:r>
              <a:t>템플릿 문구</a:t>
            </a:r>
            <a:br/>
            <a:r>
              <a:t>확인 필요 표시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평가 항목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심사 기준을 화면과 설계로 각각 대응했습니다.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600200"/>
            <a:ext cx="9966960" cy="50292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737360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1">
                <a:solidFill>
                  <a:srgbClr val="B85042"/>
                </a:solidFill>
                <a:latin typeface="Malgun Gothic"/>
              </a:defRPr>
            </a:pPr>
            <a:r>
              <a:t>문제 정의·기획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737360"/>
            <a:ext cx="5760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2E3235"/>
                </a:solidFill>
                <a:latin typeface="Malgun Gothic"/>
              </a:defRPr>
            </a:pPr>
            <a:r>
              <a:t>제주 여행 정보 신뢰 문제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313432"/>
            <a:ext cx="9966960" cy="502920"/>
          </a:xfrm>
          <a:prstGeom prst="roundRect">
            <a:avLst/>
          </a:prstGeom>
          <a:solidFill>
            <a:srgbClr val="EAF4EF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450592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1">
                <a:solidFill>
                  <a:srgbClr val="B85042"/>
                </a:solidFill>
                <a:latin typeface="Malgun Gothic"/>
              </a:defRPr>
            </a:pPr>
            <a:r>
              <a:t>모델 설계·활용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50592"/>
            <a:ext cx="5760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2E3235"/>
                </a:solidFill>
                <a:latin typeface="Malgun Gothic"/>
              </a:defRPr>
            </a:pPr>
            <a:r>
              <a:t>gpt-5-mini + RAG + Trust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026664"/>
            <a:ext cx="9966960" cy="50292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3163824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1">
                <a:solidFill>
                  <a:srgbClr val="B85042"/>
                </a:solidFill>
                <a:latin typeface="Malgun Gothic"/>
              </a:defRPr>
            </a:pPr>
            <a:r>
              <a:t>서비스 견고성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163824"/>
            <a:ext cx="5760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2E3235"/>
                </a:solidFill>
                <a:latin typeface="Malgun Gothic"/>
              </a:defRPr>
            </a:pPr>
            <a:r>
              <a:t>배포, fallback, UI 완결성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739896"/>
            <a:ext cx="9966960" cy="502920"/>
          </a:xfrm>
          <a:prstGeom prst="roundRect">
            <a:avLst/>
          </a:prstGeom>
          <a:solidFill>
            <a:srgbClr val="EAF4EF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877056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1">
                <a:solidFill>
                  <a:srgbClr val="B85042"/>
                </a:solidFill>
                <a:latin typeface="Malgun Gothic"/>
              </a:defRPr>
            </a:pPr>
            <a:r>
              <a:t>신뢰성·설득력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877056"/>
            <a:ext cx="5760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2E3235"/>
                </a:solidFill>
                <a:latin typeface="Malgun Gothic"/>
              </a:defRPr>
            </a:pPr>
            <a:r>
              <a:t>출처, 점수, 수정요청, 피드백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453128"/>
            <a:ext cx="9966960" cy="50292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590288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1">
                <a:solidFill>
                  <a:srgbClr val="B85042"/>
                </a:solidFill>
                <a:latin typeface="Malgun Gothic"/>
              </a:defRPr>
            </a:pPr>
            <a:r>
              <a:t>보안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590288"/>
            <a:ext cx="5760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2E3235"/>
                </a:solidFill>
                <a:latin typeface="Malgun Gothic"/>
              </a:defRPr>
            </a:pPr>
            <a:r>
              <a:t>환경변수, 키 비공개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한계와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모르는 것을 인정하는 구조에서 다음 단계가 시작됩니다.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4754880" cy="283464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E7683A"/>
                </a:solidFill>
                <a:latin typeface="Malgun Gothic"/>
              </a:defRPr>
            </a:pPr>
            <a:r>
              <a:t>현재 한계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2660904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06040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공공데이터 커버리지 밖 장소는 추천하지 못함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2953512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898648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방문 피드백은 사용자 누적이 필요</a:t>
            </a:r>
          </a:p>
        </p:txBody>
      </p:sp>
      <p:sp>
        <p:nvSpPr>
          <p:cNvPr id="12" name="Oval 11"/>
          <p:cNvSpPr/>
          <p:nvPr/>
        </p:nvSpPr>
        <p:spPr>
          <a:xfrm>
            <a:off x="1143000" y="3246120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191256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공공기관 자동 전달은 향후 과제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737360"/>
            <a:ext cx="4663440" cy="2834640"/>
          </a:xfrm>
          <a:prstGeom prst="roundRect">
            <a:avLst/>
          </a:prstGeom>
          <a:solidFill>
            <a:srgbClr val="EAF4EF"/>
          </a:solidFill>
          <a:ln w="1016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05740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>
                <a:solidFill>
                  <a:srgbClr val="4A8779"/>
                </a:solidFill>
                <a:latin typeface="Malgun Gothic"/>
              </a:defRPr>
            </a:pPr>
            <a:r>
              <a:t>확장 방향</a:t>
            </a:r>
          </a:p>
        </p:txBody>
      </p:sp>
      <p:sp>
        <p:nvSpPr>
          <p:cNvPr id="16" name="Oval 15"/>
          <p:cNvSpPr/>
          <p:nvPr/>
        </p:nvSpPr>
        <p:spPr>
          <a:xfrm>
            <a:off x="6720840" y="2660904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606040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장소별 신뢰 히스토리</a:t>
            </a:r>
          </a:p>
        </p:txBody>
      </p:sp>
      <p:sp>
        <p:nvSpPr>
          <p:cNvPr id="18" name="Oval 17"/>
          <p:cNvSpPr/>
          <p:nvPr/>
        </p:nvSpPr>
        <p:spPr>
          <a:xfrm>
            <a:off x="6720840" y="2953512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2898648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사용자 피드백 누적 대시보드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3246120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191256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공공데이터 관리기관 전달 큐</a:t>
            </a:r>
          </a:p>
        </p:txBody>
      </p:sp>
      <p:sp>
        <p:nvSpPr>
          <p:cNvPr id="22" name="Oval 21"/>
          <p:cNvSpPr/>
          <p:nvPr/>
        </p:nvSpPr>
        <p:spPr>
          <a:xfrm>
            <a:off x="6720840" y="3538727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483863"/>
            <a:ext cx="35204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E3235"/>
                </a:solidFill>
                <a:latin typeface="Malgun Gothic"/>
              </a:defRPr>
            </a:pPr>
            <a:r>
              <a:t>기본 GPT 대비 정량 비교 리포트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8452"/>
            <a:ext cx="12191695" cy="331470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6126480" y="4800600"/>
            <a:ext cx="2926080" cy="1005840"/>
          </a:xfrm>
          <a:prstGeom prst="triangle">
            <a:avLst/>
          </a:prstGeom>
          <a:solidFill>
            <a:srgbClr val="4A8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6949440" y="4480560"/>
            <a:ext cx="2468880" cy="1325880"/>
          </a:xfrm>
          <a:prstGeom prst="triangle">
            <a:avLst/>
          </a:prstGeom>
          <a:solidFill>
            <a:srgbClr val="4A8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8229600" y="5074920"/>
            <a:ext cx="1828800" cy="731520"/>
          </a:xfrm>
          <a:prstGeom prst="triangle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567781"/>
            <a:ext cx="11155680" cy="22860"/>
          </a:xfrm>
          <a:prstGeom prst="rect">
            <a:avLst/>
          </a:prstGeom>
          <a:solidFill>
            <a:srgbClr val="4A8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566928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1F2326"/>
                </a:solidFill>
                <a:latin typeface="Malgun Gothic"/>
              </a:defRPr>
            </a:pPr>
            <a:r>
              <a:t>제주를 담다는</a:t>
            </a:r>
            <a:br/>
            <a:r>
              <a:t>여행지를 추천하는 서비스가 아니라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61264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600" b="1">
                <a:solidFill>
                  <a:srgbClr val="B85042"/>
                </a:solidFill>
                <a:latin typeface="Malgun Gothic"/>
              </a:defRPr>
            </a:pPr>
            <a:r>
              <a:t>믿어도 되는 정보와</a:t>
            </a:r>
            <a:br/>
            <a:r>
              <a:t>확인해야 하는 정보를</a:t>
            </a:r>
            <a:br/>
            <a:r>
              <a:t>구분해 주는 서비스입니다.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17320"/>
            <a:ext cx="3474720" cy="2103120"/>
          </a:xfrm>
          <a:prstGeom prst="roundRect">
            <a:avLst/>
          </a:prstGeom>
          <a:solidFill>
            <a:srgbClr val="FFFCF6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1737360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E7683A"/>
                </a:solidFill>
                <a:latin typeface="Malgun Gothic"/>
              </a:defRPr>
            </a:pPr>
            <a:r>
              <a:t>마지막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2148840"/>
            <a:ext cx="26517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1F2326"/>
                </a:solidFill>
                <a:latin typeface="Malgun Gothic"/>
              </a:defRPr>
            </a:pPr>
            <a:r>
              <a:t>gpt-5-mini 하나를 더 크게 쓰는 대신, RAG와 검증, 피드백 루프로 더 믿을 만하게 만들었습니다.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제주를 담다 · 제주 정보 신뢰도 분석 서비스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47548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>
                <a:solidFill>
                  <a:srgbClr val="1F2326"/>
                </a:solidFill>
                <a:latin typeface="Malgun Gothic"/>
              </a:defRPr>
            </a:pPr>
            <a:r>
              <a:t>Q&amp;A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47548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6F716F"/>
                </a:solidFill>
                <a:latin typeface="Malgun Gothic"/>
              </a:defRPr>
            </a:pPr>
            <a:r>
              <a:t>예상 질문과 답변 포인트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49316"/>
            <a:ext cx="12191695" cy="320040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6126480" y="4389120"/>
            <a:ext cx="2926080" cy="1005840"/>
          </a:xfrm>
          <a:prstGeom prst="triangle">
            <a:avLst/>
          </a:prstGeom>
          <a:solidFill>
            <a:srgbClr val="4A8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6949440" y="4069080"/>
            <a:ext cx="2468880" cy="1325880"/>
          </a:xfrm>
          <a:prstGeom prst="triangle">
            <a:avLst/>
          </a:prstGeom>
          <a:solidFill>
            <a:srgbClr val="4A8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8229600" y="4663440"/>
            <a:ext cx="1828800" cy="731520"/>
          </a:xfrm>
          <a:prstGeom prst="triangle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164531"/>
            <a:ext cx="11155680" cy="22860"/>
          </a:xfrm>
          <a:prstGeom prst="rect">
            <a:avLst/>
          </a:prstGeom>
          <a:solidFill>
            <a:srgbClr val="4A87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부록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Q&amp;A 예상 질문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질문이 들어오면 “근거 기반, 생성 억제, 폴백, 피드백 루프” 네 축으로 답합니다.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846320" cy="1325880"/>
          </a:xfrm>
          <a:prstGeom prst="roundRect">
            <a:avLst/>
          </a:prstGeom>
          <a:solidFill>
            <a:srgbClr val="FFF7EA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56232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50" b="1">
                <a:solidFill>
                  <a:srgbClr val="B85042"/>
                </a:solidFill>
                <a:latin typeface="Malgun Gothic"/>
              </a:defRPr>
            </a:pPr>
            <a:r>
              <a:t>Q1. 그냥 GPT 추천과 무엇이 다른가?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58568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>
                <a:solidFill>
                  <a:srgbClr val="2E3235"/>
                </a:solidFill>
                <a:latin typeface="Malgun Gothic"/>
              </a:defRPr>
            </a:pPr>
            <a:r>
              <a:t>DB에서 조회된 장소와 출처만 사용합니다. 모르는 장소는 생성하지 않고 공공데이터 기준 미확인으로 표시합니다.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846320" cy="1325880"/>
          </a:xfrm>
          <a:prstGeom prst="roundRect">
            <a:avLst/>
          </a:prstGeom>
          <a:solidFill>
            <a:srgbClr val="FFF7EA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56232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50" b="1">
                <a:solidFill>
                  <a:srgbClr val="B85042"/>
                </a:solidFill>
                <a:latin typeface="Malgun Gothic"/>
              </a:defRPr>
            </a:pPr>
            <a:r>
              <a:t>Q2. 공공데이터가 틀리면?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58568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>
                <a:solidFill>
                  <a:srgbClr val="2E3235"/>
                </a:solidFill>
                <a:latin typeface="Malgun Gothic"/>
              </a:defRPr>
            </a:pPr>
            <a:r>
              <a:t>수정요청 데이터와 방문 피드백을 별도 신호로 분리합니다. 공공데이터와 사용자 신고를 같은 배지로 섞지 않습니다.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20440"/>
            <a:ext cx="4846320" cy="1325880"/>
          </a:xfrm>
          <a:prstGeom prst="roundRect">
            <a:avLst/>
          </a:prstGeom>
          <a:solidFill>
            <a:srgbClr val="FFF7EA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85032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50" b="1">
                <a:solidFill>
                  <a:srgbClr val="B85042"/>
                </a:solidFill>
                <a:latin typeface="Malgun Gothic"/>
              </a:defRPr>
            </a:pPr>
            <a:r>
              <a:t>Q3. gpt-5-mini는 어디에 쓰였나?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087368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>
                <a:solidFill>
                  <a:srgbClr val="2E3235"/>
                </a:solidFill>
                <a:latin typeface="Malgun Gothic"/>
              </a:defRPr>
            </a:pPr>
            <a:r>
              <a:t>장소명·주소 생성이 아니라 RAG 결과 요약, 리뷰 claim 분해, 검증 설명, 하루방 브리핑에 사용했습니다.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520440"/>
            <a:ext cx="4846320" cy="1325880"/>
          </a:xfrm>
          <a:prstGeom prst="roundRect">
            <a:avLst/>
          </a:prstGeom>
          <a:solidFill>
            <a:srgbClr val="FFF7EA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685032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50" b="1">
                <a:solidFill>
                  <a:srgbClr val="B85042"/>
                </a:solidFill>
                <a:latin typeface="Malgun Gothic"/>
              </a:defRPr>
            </a:pPr>
            <a:r>
              <a:t>Q4. 점수는 객관적인가?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87368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>
                <a:solidFill>
                  <a:srgbClr val="2E3235"/>
                </a:solidFill>
                <a:latin typeface="Malgun Gothic"/>
              </a:defRPr>
            </a:pPr>
            <a:r>
              <a:t>절대 진실 점수가 아니라 의사결정 보조 점수입니다. 사용자가 점수의 이유를 볼 수 있게 breakdown을 제공합니다.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부록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Q&amp;A 예상 질문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질문이 들어오면 “근거 기반, 생성 억제, 폴백, 피드백 루프” 네 축으로 답합니다.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846320" cy="1325880"/>
          </a:xfrm>
          <a:prstGeom prst="roundRect">
            <a:avLst/>
          </a:prstGeom>
          <a:solidFill>
            <a:srgbClr val="FFF7EA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56232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50" b="1">
                <a:solidFill>
                  <a:srgbClr val="B85042"/>
                </a:solidFill>
                <a:latin typeface="Malgun Gothic"/>
              </a:defRPr>
            </a:pPr>
            <a:r>
              <a:t>Q5. 보안은?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58568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>
                <a:solidFill>
                  <a:srgbClr val="2E3235"/>
                </a:solidFill>
                <a:latin typeface="Malgun Gothic"/>
              </a:defRPr>
            </a:pPr>
            <a:r>
              <a:t>OpenAI, KMA, Naver 지도 키는 환경변수로만 관리합니다. GitHub에는 .env.example만 제공합니다.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846320" cy="1325880"/>
          </a:xfrm>
          <a:prstGeom prst="roundRect">
            <a:avLst/>
          </a:prstGeom>
          <a:solidFill>
            <a:srgbClr val="FFF7EA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56232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50" b="1">
                <a:solidFill>
                  <a:srgbClr val="B85042"/>
                </a:solidFill>
                <a:latin typeface="Malgun Gothic"/>
              </a:defRPr>
            </a:pPr>
            <a:r>
              <a:t>Q6. 외부 API 실패 시?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58568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>
                <a:solidFill>
                  <a:srgbClr val="2E3235"/>
                </a:solidFill>
                <a:latin typeface="Malgun Gothic"/>
              </a:defRPr>
            </a:pPr>
            <a:r>
              <a:t>OpenAI 키 없음, 지도 인증 실패, 날씨 API 실패 모두 사용자에게 명확한 fallback을 제공합니다.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20440"/>
            <a:ext cx="4846320" cy="1325880"/>
          </a:xfrm>
          <a:prstGeom prst="roundRect">
            <a:avLst/>
          </a:prstGeom>
          <a:solidFill>
            <a:srgbClr val="FFF7EA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85032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50" b="1">
                <a:solidFill>
                  <a:srgbClr val="B85042"/>
                </a:solidFill>
                <a:latin typeface="Malgun Gothic"/>
              </a:defRPr>
            </a:pPr>
            <a:r>
              <a:t>Q7. 피드백이 공공데이터에 바로 반영되나?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087368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>
                <a:solidFill>
                  <a:srgbClr val="2E3235"/>
                </a:solidFill>
                <a:latin typeface="Malgun Gothic"/>
              </a:defRPr>
            </a:pPr>
            <a:r>
              <a:t>바로 원본을 수정하지 않고 내부 수정요청 큐로 분리합니다. 향후 관리기관 전달 워크플로우로 확장합니다.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520440"/>
            <a:ext cx="4846320" cy="1325880"/>
          </a:xfrm>
          <a:prstGeom prst="roundRect">
            <a:avLst/>
          </a:prstGeom>
          <a:solidFill>
            <a:srgbClr val="FFF7EA"/>
          </a:solidFill>
          <a:ln w="10160">
            <a:solidFill>
              <a:srgbClr val="F2E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685032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50" b="1">
                <a:solidFill>
                  <a:srgbClr val="B85042"/>
                </a:solidFill>
                <a:latin typeface="Malgun Gothic"/>
              </a:defRPr>
            </a:pPr>
            <a:r>
              <a:t>Q8. 데이터 부족 지역은?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87368"/>
            <a:ext cx="43434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20" b="0">
                <a:solidFill>
                  <a:srgbClr val="2E3235"/>
                </a:solidFill>
                <a:latin typeface="Malgun Gothic"/>
              </a:defRPr>
            </a:pPr>
            <a:r>
              <a:t>추천으로 채우지 않습니다. 데이터 부족 조합을 먼저 보여주고 공공데이터 기준 미확인이라고 명시합니다.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부록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2560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1">
                <a:solidFill>
                  <a:srgbClr val="E7683A"/>
                </a:solidFill>
                <a:latin typeface="Malgun Gothic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786384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000" b="1">
                <a:solidFill>
                  <a:srgbClr val="1F2326"/>
                </a:solidFill>
                <a:latin typeface="Malgun Gothic"/>
              </a:defRPr>
            </a:pPr>
            <a:r>
              <a:t>발표 직전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207008"/>
            <a:ext cx="813816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50" b="0">
                <a:solidFill>
                  <a:srgbClr val="6F716F"/>
                </a:solidFill>
                <a:latin typeface="Malgun Gothic"/>
              </a:defRPr>
            </a:pPr>
            <a:r>
              <a:t>20분 발표는 데모 흐름이 끊기지 않는 것이 가장 중요합니다.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883664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28800"/>
            <a:ext cx="7452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2E3235"/>
                </a:solidFill>
                <a:latin typeface="Malgun Gothic"/>
              </a:defRPr>
            </a:pPr>
            <a:r>
              <a:t>배포 URL 접속 확인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176272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21408"/>
            <a:ext cx="7452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2E3235"/>
                </a:solidFill>
                <a:latin typeface="Malgun Gothic"/>
              </a:defRPr>
            </a:pPr>
            <a:r>
              <a:t>지역 선택 → 팩 생성 → 플랜 담기 → 피드백 → 리뷰 검증 순서 연습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468879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414015"/>
            <a:ext cx="7452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2E3235"/>
                </a:solidFill>
                <a:latin typeface="Malgun Gothic"/>
              </a:defRPr>
            </a:pPr>
            <a:r>
              <a:t>네이버 지도 인증 실패 fallback도 자연스럽게 설명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761487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706623"/>
            <a:ext cx="7452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2E3235"/>
                </a:solidFill>
                <a:latin typeface="Malgun Gothic"/>
              </a:defRPr>
            </a:pPr>
            <a:r>
              <a:t>KMA 날씨 카드가 여행 기간 기준으로 보이는지 확인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054095"/>
            <a:ext cx="100584" cy="100584"/>
          </a:xfrm>
          <a:prstGeom prst="ellipse">
            <a:avLst/>
          </a:prstGeom>
          <a:solidFill>
            <a:srgbClr val="E76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999231"/>
            <a:ext cx="7452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2E3235"/>
                </a:solidFill>
                <a:latin typeface="Malgun Gothic"/>
              </a:defRPr>
            </a:pPr>
            <a:r>
              <a:t>Q&amp;A에서 “모르는 것을 추천하지 않는다” 원칙 반복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50" b="0">
                <a:solidFill>
                  <a:srgbClr val="6F716F"/>
                </a:solidFill>
                <a:latin typeface="Malgun Gothic"/>
              </a:defRPr>
            </a:pPr>
            <a:r>
              <a:t>부록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900" b="0">
                <a:solidFill>
                  <a:srgbClr val="6F716F"/>
                </a:solidFill>
                <a:latin typeface="Malgun Gothic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