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0" y="0"/>
            <a:ext cx="5486400" cy="10287000"/>
          </a:xfrm>
          <a:prstGeom prst="rect">
            <a:avLst/>
          </a:prstGeom>
          <a:solidFill>
            <a:srgbClr val="E67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7A34"/>
                </a:solidFill>
                <a:latin typeface="맑은 고딕"/>
              </a:rPr>
              <a:t>AIFFELTHON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12801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FFFFFF"/>
                </a:solidFill>
                <a:latin typeface="맑은 고딕"/>
              </a:rPr>
              <a:t>Pack Your Jeju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1280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DF6EA"/>
                </a:solidFill>
                <a:latin typeface="맑은 고딕"/>
              </a:rPr>
              <a:t>제주 특화 · 정직한 여행 준비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400800"/>
            <a:ext cx="1280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E7D3"/>
                </a:solidFill>
                <a:latin typeface="맑은 고딕"/>
              </a:rPr>
              <a:t>근거 없이 답하지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949440"/>
            <a:ext cx="1280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DF6EA"/>
                </a:solidFill>
                <a:latin typeface="맑은 고딕"/>
              </a:rPr>
              <a:t>억지로 채우는 것보다 정직한 '확인 불가'가 낫다.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822960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DF6EA"/>
                </a:solidFill>
                <a:latin typeface="맑은 고딕"/>
              </a:rPr>
              <a:t>TEAM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Pack Your Jeju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0"/>
            <a:ext cx="1280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DF6EA"/>
                </a:solidFill>
                <a:latin typeface="맑은 고딕"/>
              </a:rPr>
              <a:t>pack-your-jeju.vercel.app  ·  10분 3막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10분 3막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788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훅 · 여행 정보가 늙는 속도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03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1,686건의 증거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617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그래서 저희는 신뢰 엔진을 심었습니다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5321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64465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폼 → 팩 · 실제 데모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7432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2788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정직함 장면 · 감귤 × 7월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6576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3703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정직함 장면 · 우도 × 카페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5720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46177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하루방 능동 인사 · 여행 저널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4864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55321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킥1 /verify · AI가 AI를 팩트체크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008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E67A34"/>
                </a:solidFill>
                <a:latin typeface="맑은 고딕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게이트 · 회고 · 로드맵 · 감사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67A34"/>
                </a:solidFill>
                <a:latin typeface="맑은 고딕"/>
              </a:rPr>
              <a:t>오프닝 · 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554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FDF6EA"/>
                </a:solidFill>
                <a:latin typeface="맑은 고딕"/>
              </a:rPr>
              <a:t>여행 앱들은 다 비슷하게 말합니다.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5544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"가성비 좋은 맛집"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"숨은 명소"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"꼭 가봐야 할 곳"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680960"/>
            <a:ext cx="1554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7A34"/>
                </a:solidFill>
                <a:latin typeface="맑은 고딕"/>
              </a:rPr>
              <a:t>그중 폐업한 곳이 얼마나 될까요?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실증 데이터 · 킥3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1,686건 — 이용자가 직접 접수한 정보 정정 요청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0" b="1">
                <a:solidFill>
                  <a:srgbClr val="C55A18"/>
                </a:solidFill>
                <a:latin typeface="맑은 고딕"/>
              </a:rPr>
              <a:t>1,686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총 수정요청 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37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비짓제주 (제주 공식 관광 포털)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5176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7432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0" b="1">
                <a:solidFill>
                  <a:srgbClr val="C55A18"/>
                </a:solidFill>
                <a:latin typeface="맑은 고딕"/>
              </a:rPr>
              <a:t>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389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물리적 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937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폐업 20 · 이전 26 · 시간 변경 235 · 주소 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78640" y="265176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0" y="27432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0" b="1">
                <a:solidFill>
                  <a:srgbClr val="C55A18"/>
                </a:solidFill>
                <a:latin typeface="맑은 고딕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0" y="43891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top 3만 590건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0" y="49377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운영시간 235 · 상세정보 202 · 메뉴 154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09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C8D6F"/>
                </a:solidFill>
                <a:latin typeface="맑은 고딕"/>
              </a:rPr>
              <a:t>유형 분포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766560"/>
            <a:ext cx="6858000" cy="329184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6793992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폐업/영업종료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6793992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6793992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1.2%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7095744"/>
            <a:ext cx="6858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7123176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이전/위치변경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712317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712317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1.5%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7424928"/>
            <a:ext cx="6858000" cy="329184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745236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운영시간/휴무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745236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235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745236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13.9%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7754112"/>
            <a:ext cx="6858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7781544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주소/도로명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778154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778154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5.4%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8083296"/>
            <a:ext cx="6858000" cy="329184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8110728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메뉴/가격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8110728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154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8110728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9.1%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8412480"/>
            <a:ext cx="6858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8439912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상세정보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8439912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202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8439912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12.0%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8741664"/>
            <a:ext cx="6858000" cy="329184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8769096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사진/이미지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876909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108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876909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6.4%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9070848"/>
            <a:ext cx="6858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909828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연락처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909828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119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909828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7.1%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0" y="6766560"/>
            <a:ext cx="8778240" cy="2286000"/>
          </a:xfrm>
          <a:prstGeom prst="roundRect">
            <a:avLst>
              <a:gd name="adj" fmla="val 6000"/>
            </a:avLst>
          </a:prstGeom>
          <a:solidFill>
            <a:srgbClr val="FDF6EA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704088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2D2A26"/>
                </a:solidFill>
                <a:latin typeface="맑은 고딕"/>
              </a:rPr>
              <a:t>" 공식 데이터조차 이 속도로 낡습니다.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2D2A26"/>
                </a:solidFill>
                <a:latin typeface="맑은 고딕"/>
              </a:rPr>
              <a:t>개인 블로그는 어떨까요? "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2D2A26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C55A18"/>
                </a:solidFill>
                <a:latin typeface="맑은 고딕"/>
              </a:rPr>
              <a:t>→ 그래서 저희는 짐 싸기 앱에 신뢰 엔진을 심었습니다.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Pack Your Jeju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저희의 세 문장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53949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291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E67A34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297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D2A26"/>
                </a:solidFill>
                <a:latin typeface="맑은 고딕"/>
              </a:rPr>
              <a:t>출처를 붙인다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39496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모든 응답은 공공데이터 근거와 함께 나온다. 사용자는 '왜 이 곳인지' 링크로 확인 가능하다.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53949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291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E67A34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D2A26"/>
                </a:solidFill>
                <a:latin typeface="맑은 고딕"/>
              </a:rPr>
              <a:t>최신만 답한다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39496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valid_until을 스키마 레벨로 강제한다. 못 채우면 DB에 못 들어간다. 감귤이 그 증거.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78640" y="3017520"/>
            <a:ext cx="539496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0" y="32918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E67A34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4297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D2A26"/>
                </a:solidFill>
                <a:latin typeface="맑은 고딕"/>
              </a:rPr>
              <a:t>안 지어낸다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539496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LLM은 사실을 생성할 권한이 없다. DB가 사실을 대고, LLM은 조립만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859536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8"/>
                </a:solidFill>
                <a:latin typeface="맑은 고딕"/>
              </a:rPr>
              <a:t>발표 내내 반복될 세 단어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결정론 파이프라인 · LLM은 조립만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8229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7A34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filters.py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3375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폼 입력 → 검색 필터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3C8D6F"/>
                </a:solidFill>
                <a:latin typeface="맑은 고딕"/>
              </a:rPr>
              <a:t>LLM 없음, 매핑 테이블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754880" y="3886200"/>
            <a:ext cx="365760" cy="137160"/>
          </a:xfrm>
          <a:prstGeom prst="downArrow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023360"/>
            <a:ext cx="8229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7A34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206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search.py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6177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strict → relaxed 완화 재시도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206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3C8D6F"/>
                </a:solidFill>
                <a:latin typeface="맑은 고딕"/>
              </a:rPr>
              <a:t>DB 인덱스 · 하버사인 거리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754880" y="5166360"/>
            <a:ext cx="365760" cy="137160"/>
          </a:xfrm>
          <a:prstGeom prst="downArrow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5303520"/>
            <a:ext cx="8229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3212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7A34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486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trust.py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8978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fallback 4분기 + 배지 4종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486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3C8D6F"/>
                </a:solidFill>
                <a:latin typeface="맑은 고딕"/>
              </a:rPr>
              <a:t>인식론 규칙 준수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4754880" y="6446520"/>
            <a:ext cx="365760" cy="137160"/>
          </a:xfrm>
          <a:prstGeom prst="downArrow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6583680"/>
            <a:ext cx="8229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681228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7A34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6766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assemble.py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71780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팩 조립 · 요일별 배치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6766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3C8D6F"/>
                </a:solidFill>
                <a:latin typeface="맑은 고딕"/>
              </a:rPr>
              <a:t>LLM 문구 (없으면 템플릿)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754880" y="7726680"/>
            <a:ext cx="365760" cy="137160"/>
          </a:xfrm>
          <a:prstGeom prst="downArrow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7863840"/>
            <a:ext cx="8229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80924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7A34"/>
                </a:solidFill>
                <a:latin typeface="맑은 고딕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8046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D2A26"/>
                </a:solidFill>
                <a:latin typeface="맑은 고딕"/>
              </a:rPr>
              <a:t>logging.py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84582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query_log 적재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8046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3C8D6F"/>
                </a:solidFill>
                <a:latin typeface="맑은 고딕"/>
              </a:rPr>
              <a:t>/admin/metrics 라이브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2743200"/>
            <a:ext cx="7955279" cy="6400800"/>
          </a:xfrm>
          <a:prstGeom prst="roundRect">
            <a:avLst>
              <a:gd name="adj" fmla="val 6000"/>
            </a:avLst>
          </a:prstGeom>
          <a:solidFill>
            <a:srgbClr val="2D2A26"/>
          </a:solidFill>
          <a:ln w="9525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3108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7A34"/>
                </a:solidFill>
                <a:latin typeface="맑은 고딕"/>
              </a:rPr>
              <a:t>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56616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packages/eval/run.py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663440"/>
            <a:ext cx="7040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1">
                <a:solidFill>
                  <a:srgbClr val="FDF6EA"/>
                </a:solidFill>
                <a:latin typeface="맑은 고딕"/>
              </a:rPr>
              <a:t>verified_precision  ≥  0.9</a:t>
            </a:r>
          </a:p>
          <a:p>
            <a:pPr algn="l">
              <a:lnSpc>
                <a:spcPct val="160000"/>
              </a:lnSpc>
            </a:pPr>
            <a:r>
              <a:rPr sz="1800" b="1">
                <a:solidFill>
                  <a:srgbClr val="FDF6EA"/>
                </a:solidFill>
                <a:latin typeface="맑은 고딕"/>
              </a:rPr>
              <a:t>fallback_accuracy   ≥  0.9</a:t>
            </a:r>
          </a:p>
          <a:p>
            <a:pPr algn="l">
              <a:lnSpc>
                <a:spcPct val="160000"/>
              </a:lnSpc>
            </a:pPr>
            <a:r>
              <a:rPr sz="1800" b="1">
                <a:solidFill>
                  <a:srgbClr val="FDF6EA"/>
                </a:solidFill>
                <a:latin typeface="맑은 고딕"/>
              </a:rPr>
              <a:t>badge_accuracy      ≥  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76656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E7D3"/>
                </a:solidFill>
                <a:latin typeface="맑은 고딕"/>
              </a:rPr>
              <a:t>미달 시 exit(1) — 배포가 물리적으로 차단됩니다.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7680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DF6EA"/>
                </a:solidFill>
                <a:latin typeface="맑은 고딕"/>
              </a:rPr>
              <a:t>최근 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8046720"/>
            <a:ext cx="704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DF0E6"/>
                </a:solidFill>
                <a:latin typeface="맑은 고딕"/>
              </a:rPr>
              <a:t>12 / 12  ·  3지표 모두 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본편 · 실사용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폼 → 근거 있는 팩 → 요일별 일정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394960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2926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E7D3"/>
          </a:solidFill>
          <a:ln w="6350">
            <a:solidFill>
              <a:srgbClr val="C55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C55A18"/>
                </a:solidFill>
                <a:latin typeface="맑은 고딕"/>
              </a:rPr>
              <a:t>화면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661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D2A26"/>
                </a:solidFill>
                <a:latin typeface="맑은 고딕"/>
              </a:rPr>
              <a:t>여행 계획하기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8912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지역 다중 선택 (12개 값)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출발일 · 기간 · 동행자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목적 · 특별 노트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5394960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2926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E7D3"/>
          </a:solidFill>
          <a:ln w="6350">
            <a:solidFill>
              <a:srgbClr val="C55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C55A18"/>
                </a:solidFill>
                <a:latin typeface="맑은 고딕"/>
              </a:rPr>
              <a:t>화면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5661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D2A26"/>
                </a:solidFill>
                <a:latin typeface="맑은 고딕"/>
              </a:rPr>
              <a:t>순간 고르기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38912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오름 · 바다 · 노을 · 시장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맛집 · 카페 · 곶자왈 · 감귤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카드 다중 선택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978640" y="2743200"/>
            <a:ext cx="5394960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435840" y="29260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E7D3"/>
          </a:solidFill>
          <a:ln w="6350">
            <a:solidFill>
              <a:srgbClr val="C55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C55A18"/>
                </a:solidFill>
                <a:latin typeface="맑은 고딕"/>
              </a:rPr>
              <a:t>화면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0" y="35661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D2A26"/>
                </a:solidFill>
                <a:latin typeface="맑은 고딕"/>
              </a:rPr>
              <a:t>팩 결과 (요일별)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438912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Day 1~N × 지역별 배치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배지 4종 · 근거 URL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카드 클릭 → 상세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8595360"/>
            <a:ext cx="1645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55A18"/>
                </a:solidFill>
                <a:latin typeface="맑은 고딕"/>
              </a:rPr>
              <a:t>"각 장소에 배지가 붙습니다. 초록 = 확인됨, 노랑 = 이용자 수정요청 이력. 각 카드에 원본 데이터 링크가 있습니다."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정직함 장면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감귤 × 7월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8229600" cy="59436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7F1D1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일반 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7F1D1D"/>
                </a:solidFill>
                <a:latin typeface="맑은 고딕"/>
              </a:rPr>
              <a:t>"7월에 감귤 체험 가능한 농장 3곳을 추천해드리겠습니다."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7680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2D2A26"/>
                </a:solidFill>
                <a:latin typeface="맑은 고딕"/>
              </a:rPr>
              <a:t>· ○○농장 (주소: ...)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D2A26"/>
                </a:solidFill>
                <a:latin typeface="맑은 고딕"/>
              </a:rPr>
              <a:t>· △△체험장 (주소: ...)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2D2A26"/>
                </a:solidFill>
                <a:latin typeface="맑은 고딕"/>
              </a:rPr>
              <a:t>· ◇◇마을 (주소: 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7498079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F1D1D"/>
                </a:solidFill>
                <a:latin typeface="맑은 고딕"/>
              </a:rPr>
              <a:t>감귤 수확기 = 10월 ~ 이듬해 1월. 7월엔 존재하지 않습니다.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743200"/>
            <a:ext cx="8229600" cy="5943600"/>
          </a:xfrm>
          <a:prstGeom prst="roundRect">
            <a:avLst>
              <a:gd name="adj" fmla="val 6000"/>
            </a:avLst>
          </a:prstGeom>
          <a:solidFill>
            <a:srgbClr val="DDF0E6"/>
          </a:solidFill>
          <a:ln w="9525">
            <a:solidFill>
              <a:srgbClr val="3C8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30175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C8D6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Pack Your Jeju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840480"/>
            <a:ext cx="7680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3C8D6F"/>
                </a:solidFill>
                <a:latin typeface="맑은 고딕"/>
              </a:rPr>
              <a:t>"저희는 7월에 감귤 체험을 지어내지 않습니다."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5486400"/>
            <a:ext cx="7680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2D2A26"/>
                </a:solidFill>
                <a:latin typeface="맑은 고딕"/>
              </a:rPr>
              <a:t>· seasonal 정보 유형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D2A26"/>
                </a:solidFill>
                <a:latin typeface="맑은 고딕"/>
              </a:rPr>
              <a:t>· valid_until을 스키마로 강제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D2A26"/>
                </a:solidFill>
                <a:latin typeface="맑은 고딕"/>
              </a:rPr>
              <a:t>· 시즌 종료일 못 채우면 place에 들어가지 못함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D2A26"/>
                </a:solidFill>
                <a:latin typeface="맑은 고딕"/>
              </a:rPr>
              <a:t>· → '이번 시즌에 확인된 프로그램이 없습니다'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정직함 장면 ② · coverage_gap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우도 × 조용한 카페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645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55A18"/>
                </a:solidFill>
                <a:latin typeface="맑은 고딕"/>
              </a:rPr>
              <a:t>저희는 '모른다'를 네 가지로 구분합니다.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8321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39319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DDF0E6"/>
          </a:solidFill>
          <a:ln w="6350">
            <a:solidFill>
              <a:srgbClr val="5A5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5A554F"/>
                </a:solidFill>
                <a:latin typeface="맑은 고딕"/>
              </a:rPr>
              <a:t>out_of_scope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D2A26"/>
                </a:solidFill>
                <a:latin typeface="맑은 고딕"/>
              </a:rPr>
              <a:t>제주 여행 정보 범위 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'제주 여행 정보 범위 밖입니다'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3657600"/>
            <a:ext cx="8321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0" y="39319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E7D3"/>
          </a:solidFill>
          <a:ln w="6350">
            <a:solidFill>
              <a:srgbClr val="C55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C55A18"/>
                </a:solidFill>
                <a:latin typeface="맑은 고딕"/>
              </a:rPr>
              <a:t>contradicted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5720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D2A26"/>
                </a:solidFill>
                <a:latin typeface="맑은 고딕"/>
              </a:rPr>
              <a:t>반증이 있음 (폐업/이전 확인)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521208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'폐업/변경이 확인됩니다'  ← 유일하게 단언 허용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6400800"/>
            <a:ext cx="8321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66751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DDF0E6"/>
          </a:solidFill>
          <a:ln w="6350">
            <a:solidFill>
              <a:srgbClr val="5A5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5A554F"/>
                </a:solidFill>
                <a:latin typeface="맑은 고딕"/>
              </a:rPr>
              <a:t>retrieval_miss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73152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D2A26"/>
                </a:solidFill>
                <a:latin typeface="맑은 고딕"/>
              </a:rPr>
              <a:t>DB엔 있는데 못 찾음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95528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사용자 노출 전 재시도로 해소 시도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6400800"/>
            <a:ext cx="8321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18320" y="66751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E7D3"/>
          </a:solidFill>
          <a:ln w="6350">
            <a:solidFill>
              <a:srgbClr val="C55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C55A18"/>
                </a:solidFill>
                <a:latin typeface="맑은 고딕"/>
              </a:rPr>
              <a:t>coverage_gap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73152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D2A26"/>
                </a:solidFill>
                <a:latin typeface="맑은 고딕"/>
              </a:rPr>
              <a:t>저희 데이터에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795528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'저희가 참조하는 공공데이터 기준으로 확인되지 않습니다'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91897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인식론 규칙 · 우리 DB ≠ 세계 전체 · 'contradicted'만 단언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본편 · 능동 인사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하루방 · 폼 옆에 사는 정직 상담사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822960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2D2A26"/>
                </a:solidFill>
                <a:latin typeface="맑은 고딕"/>
              </a:rPr>
              <a:t>폼에서 지역+순간을 처음 고르는 순간,
하루방이 스스로 말을 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749807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1">
                <a:solidFill>
                  <a:srgbClr val="3C8D6F"/>
                </a:solidFill>
                <a:latin typeface="맑은 고딕"/>
              </a:rPr>
              <a:t>POST /agent/intro (결정적 · LLM 사실 생성 금지)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1. build_filters(form) → search_strict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2. 각 (region × moment) 조합에서 verified 우선 하이라이트 6개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3. gaps 나열 — items=0 조합 정직 노출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4. LLM은 greeting과 reason 한 줄만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5. candidates 밖 external_id는 무조건 폐기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743200"/>
            <a:ext cx="8229600" cy="6400800"/>
          </a:xfrm>
          <a:prstGeom prst="roundRect">
            <a:avLst>
              <a:gd name="adj" fmla="val 6000"/>
            </a:avLst>
          </a:prstGeom>
          <a:solidFill>
            <a:srgbClr val="FDF6EA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0175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2A26"/>
                </a:solidFill>
                <a:latin typeface="맑은 고딕"/>
              </a:rPr>
              <a:t>🗿 하루방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383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제주 여행길 지킴이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4023360"/>
            <a:ext cx="749807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E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41605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2A26"/>
                </a:solidFill>
                <a:latin typeface="맑은 고딕"/>
              </a:rPr>
              <a:t>구좌에서 연인과 힐링 여행이시라구요?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46177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저희 공공데이터로 확인된 6곳을 먼저 보여드릴게요.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5486400"/>
            <a:ext cx="7498079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910559" y="562356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DDF0E6"/>
          </a:solidFill>
          <a:ln w="6350">
            <a:solidFill>
              <a:srgbClr val="3C8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3C8D6F"/>
                </a:solidFill>
                <a:latin typeface="맑은 고딕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5623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구좌 · 조용한 카페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5989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D2A26"/>
                </a:solidFill>
                <a:latin typeface="맑은 고딕"/>
              </a:rPr>
              <a:t>카페달보름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465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제주특별자치도 제주시 구좌읍 대수길 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7223760"/>
            <a:ext cx="7498079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910559" y="73609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D97706"/>
                </a:solidFill>
                <a:latin typeface="맑은 고딕"/>
              </a:rPr>
              <a:t>caution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7360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구좌 · 노을 감상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772667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D2A26"/>
                </a:solidFill>
                <a:latin typeface="맑은 고딕"/>
              </a:rPr>
              <a:t>메이즈랜드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818387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97706"/>
                </a:solidFill>
                <a:latin typeface="맑은 고딕"/>
              </a:rPr>
              <a:t>· 이용자 정보 수정요청 이력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본편 · POST /pack/pdf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이 여행을, 저널로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645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2D2A26"/>
                </a:solidFill>
                <a:latin typeface="맑은 고딕"/>
              </a:rPr>
              <a:t>"근거 있는 것만 담고, 없는 것은 정직하게 비웠습니다."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2D2A26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A554F"/>
                </a:solidFill>
                <a:latin typeface="맑은 고딕"/>
              </a:rPr>
              <a:t>표지 → Day별 카드 → 마지막 페이지: '정직하게, 확인되지 않은 것들'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4632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55A18"/>
                </a:solidFill>
                <a:latin typeface="맑은 고딕"/>
              </a:rPr>
              <a:t>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대문 문구: 이 여행을, 정직하게 담았습니다.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부제: 동행자 · 지역 · 기간 · 목적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커버리지 chip: 확인됨 · caution ·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84632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51206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55A18"/>
                </a:solidFill>
                <a:latin typeface="맑은 고딕"/>
              </a:rPr>
              <a:t>Day별 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03504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요일 · 지역 · 순간 라벨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이름 · 배지 · 주소 · 근거 URL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미확인 조합 amber 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978640" y="484632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51206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55A18"/>
                </a:solidFill>
                <a:latin typeface="맑은 고딕"/>
              </a:rPr>
              <a:t>정직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603504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'저희 데이터에서 확인되지 않은 조합'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gaps 요약 · '없다'로 단언하지 않음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· 마무리: '근거 있는 여행 준비'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킥1 · POST /verify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AI가 AI를 팩트체크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2A26"/>
                </a:solidFill>
                <a:latin typeface="맑은 고딕"/>
              </a:rPr>
              <a:t>리뷰를 입력값으로 받아 문장별로 판정 · 근거 URL 반환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16642080" cy="1737360"/>
          </a:xfrm>
          <a:prstGeom prst="roundRect">
            <a:avLst>
              <a:gd name="adj" fmla="val 6000"/>
            </a:avLst>
          </a:prstGeom>
          <a:solidFill>
            <a:srgbClr val="FDF6EA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C8D6F"/>
                </a:solidFill>
                <a:latin typeface="맑은 고딕"/>
              </a:rPr>
              <a:t>입력 리뷰 (킥1 대본)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1609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2D2A26"/>
                </a:solidFill>
                <a:latin typeface="맑은 고딕"/>
              </a:rPr>
              <a:t>"애월오누이 제주 정말 맛있어요. 라임오렌지카페앤플라워는 조용해서 좋았어요. 그 옆 가짜식당은 별로였어요."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7607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9525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943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7F1D1D"/>
                </a:solidFill>
                <a:latin typeface="맑은 고딕"/>
              </a:rPr>
              <a:t>×  contradicted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5836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애월오누이 제주 정말 맛있어요.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955279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F1D1D"/>
                </a:solidFill>
                <a:latin typeface="맑은 고딕"/>
              </a:rPr>
              <a:t>폐업/이전이 확인됩니다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8595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비짓제주 데이터 tombstoned=true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7607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DDF0E6"/>
          </a:solidFill>
          <a:ln w="9525">
            <a:solidFill>
              <a:srgbClr val="3C8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5943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C8D6F"/>
                </a:solidFill>
                <a:latin typeface="맑은 고딕"/>
              </a:rPr>
              <a:t>○ 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65836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라임오렌지카페앤플라워는 조용해서 좋았어요.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7955279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저희 데이터에서 존재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8595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place external_id 매칭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978640" y="576072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0" y="59436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97706"/>
                </a:solidFill>
                <a:latin typeface="맑은 고딕"/>
              </a:rPr>
              <a:t>⚠  coverage_gap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0" y="65836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그 옆 가짜식당은 별로였어요.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0" y="7955279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7706"/>
                </a:solidFill>
                <a:latin typeface="맑은 고딕"/>
              </a:rPr>
              <a:t>저희 데이터로 확인되지 않습니다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0" y="8595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'없다'로 단언하지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트러스트 엔진 · 항목 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배지 · 정직함의 시각 자산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8321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310896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DF0E6"/>
          </a:solidFill>
          <a:ln w="6350">
            <a:solidFill>
              <a:srgbClr val="3C8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3C8D6F"/>
                </a:solidFill>
                <a:latin typeface="맑은 고딕"/>
              </a:rP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확인됨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존재 + 유효기간 유효 + 수정요청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743200"/>
            <a:ext cx="8321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310896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D97706"/>
                </a:solidFill>
                <a:latin typeface="맑은 고딕"/>
              </a:rPr>
              <a:t>caution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주의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470916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수정요청 이력 or 요구 amenity 결측 or 유효기간 임박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6217920"/>
            <a:ext cx="8321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6583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63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7F1D1D"/>
                </a:solidFill>
                <a:latin typeface="맑은 고딕"/>
              </a:rPr>
              <a:t>contradicted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726948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폐업/변경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818388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tombstone=true 또는 폐업/이전 반증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6217920"/>
            <a:ext cx="8321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6583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EEE7D6"/>
          </a:solidFill>
          <a:ln w="6350">
            <a:solidFill>
              <a:srgbClr val="5A5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100" b="1">
                <a:solidFill>
                  <a:srgbClr val="5A554F"/>
                </a:solidFill>
                <a:latin typeface="맑은 고딕"/>
              </a:rPr>
              <a:t>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726948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참고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818388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공공데이터 검증 아님 (스트레치, verified와 명확 분리)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데이터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우리가 사실을 대는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8"/>
                </a:solidFill>
                <a:latin typeface="맑은 고딕"/>
              </a:rPr>
              <a:t>4,422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2A26"/>
                </a:solidFill>
                <a:latin typeface="맑은 고딕"/>
              </a:rPr>
              <a:t>관광지 · 카페 · 음식점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visitjeju API 4,422건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432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92608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8"/>
                </a:solidFill>
                <a:latin typeface="맑은 고딕"/>
              </a:rPr>
              <a:t>5,828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480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2A26"/>
                </a:solidFill>
                <a:latin typeface="맑은 고딕"/>
              </a:rPr>
              <a:t>교통 배지 근거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074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주차장 1,557 + 정류장 4,271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7432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92608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8"/>
                </a:solidFill>
                <a:latin typeface="맑은 고딕"/>
              </a:rPr>
              <a:t>556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480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2A26"/>
                </a:solidFill>
                <a:latin typeface="맑은 고딕"/>
              </a:rPr>
              <a:t>수정요청 매칭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074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1,686건 중 place에 이력 부착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167360" y="274320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0" y="292608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C55A18"/>
                </a:solidFill>
                <a:latin typeface="맑은 고딕"/>
              </a:rPr>
              <a:t>12/12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0" y="44805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2A26"/>
                </a:solidFill>
                <a:latin typeface="맑은 고딕"/>
              </a:rPr>
              <a:t>골든셋 게이트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0" y="50749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554F"/>
                </a:solidFill>
                <a:latin typeface="맑은 고딕"/>
              </a:rPr>
              <a:t>3지표 모두 1.00 (verified/fallback/badge)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C8D6F"/>
                </a:solidFill>
                <a:latin typeface="맑은 고딕"/>
              </a:rPr>
              <a:t>소스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858000"/>
            <a:ext cx="16642080" cy="457200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9037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S1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6903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비짓제주 API (키)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903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관광지·카페·음식·체험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0" y="6903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C8D6F"/>
                </a:solidFill>
                <a:latin typeface="맑은 고딕"/>
              </a:rPr>
              <a:t>place 4,422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7315200"/>
            <a:ext cx="1664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73609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S2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7360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위생등급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7360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local_food 배지 보강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93040" y="7360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C8D6F"/>
                </a:solidFill>
                <a:latin typeface="맑은 고딕"/>
              </a:rPr>
              <a:t>food.hygiene_grade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7772400"/>
            <a:ext cx="16642080" cy="457200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78181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S3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7818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공영주차장 CSV (공공데이터)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7818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교통 배지 🅿️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93040" y="7818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C8D6F"/>
                </a:solidFill>
                <a:latin typeface="맑은 고딕"/>
              </a:rPr>
              <a:t>transit_point 1,557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8229600"/>
            <a:ext cx="1664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82753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S4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8275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TAGO 버스정류소 (국토부)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8275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교통 배지 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93040" y="8275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C8D6F"/>
                </a:solidFill>
                <a:latin typeface="맑은 고딕"/>
              </a:rPr>
              <a:t>transit_point 4,271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8686800"/>
            <a:ext cx="16642080" cy="457200"/>
          </a:xfrm>
          <a:prstGeom prst="rect">
            <a:avLst/>
          </a:prstGeom>
          <a:solidFill>
            <a:srgbClr val="FD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8732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55A18"/>
                </a:solidFill>
                <a:latin typeface="맑은 고딕"/>
              </a:rPr>
              <a:t>S5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8732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D2A26"/>
                </a:solidFill>
                <a:latin typeface="맑은 고딕"/>
              </a:rPr>
              <a:t>비짓제주 수정요청 CSV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8732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신뢰 하향 신호 + 킥3 근거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93040" y="87325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C8D6F"/>
                </a:solidFill>
                <a:latin typeface="맑은 고딕"/>
              </a:rPr>
              <a:t>has_fix_request 556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킥4 · GET /admin/metrics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저희는 발표하는 동안에도 운영 중이었습니다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7772400" cy="6400800"/>
          </a:xfrm>
          <a:prstGeom prst="roundRect">
            <a:avLst>
              <a:gd name="adj" fmla="val 6000"/>
            </a:avLst>
          </a:prstGeom>
          <a:solidFill>
            <a:srgbClr val="2D2A26"/>
          </a:solidFill>
          <a:ln w="9525">
            <a:solidFill>
              <a:srgbClr val="2D2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10896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</a:rPr>
              <a:t>직접 만들어보세요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233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E7D3"/>
                </a:solidFill>
                <a:latin typeface="맑은 고딕"/>
              </a:rPr>
              <a:t>pack-your-jeju.vercel.app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4846320"/>
            <a:ext cx="502920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6583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554F"/>
                </a:solidFill>
                <a:latin typeface="맑은 고딕"/>
              </a:rPr>
              <a:t>docs/qr.png 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C8D6F"/>
                </a:solidFill>
                <a:latin typeface="맑은 고딕"/>
              </a:rPr>
              <a:t>최근 24시간 실 트래픽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4747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74904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55A18"/>
                </a:solidFill>
                <a:latin typeface="맑은 고딕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846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/pack 요청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0" y="34747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0" y="374904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55A18"/>
                </a:solidFill>
                <a:latin typeface="맑은 고딕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0" y="4846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/verify 요청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0" y="34747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0" y="374904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55A18"/>
                </a:solidFill>
                <a:latin typeface="맑은 고딕"/>
              </a:rPr>
              <a:t>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0" y="4846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verified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56692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59436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55A18"/>
                </a:solidFill>
                <a:latin typeface="맑은 고딕"/>
              </a:rPr>
              <a:t>102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7040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caution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56692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0" y="59436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55A18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0" y="7040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coverage_gap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0" y="56692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813280" y="59436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C55A18"/>
                </a:solidFill>
                <a:latin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0" y="7040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554F"/>
                </a:solidFill>
                <a:latin typeface="맑은 고딕"/>
              </a:rPr>
              <a:t>contradicted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8595360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지연 p50 = 16ms · 배지 5종 실 데이터로 회전 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다음 단계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지역 팩 아키텍처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39496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67A34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D2A26"/>
                </a:solidFill>
                <a:latin typeface="맑은 고딕"/>
              </a:rPr>
              <a:t>지역 확장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C8D6F"/>
                </a:solidFill>
                <a:latin typeface="맑은 고딕"/>
              </a:rPr>
              <a:t>부산 팩 · 도쿄 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8521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데이터 어댑터만 갈아끼우면 됩니다. 저희는 모든 곳을 아는 척하는 대신 제주부터 완벽하게 하기로 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539496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0175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67A34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20624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D2A26"/>
                </a:solidFill>
                <a:latin typeface="맑은 고딕"/>
              </a:rPr>
              <a:t>여행 일정 전체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C8D6F"/>
                </a:solidFill>
                <a:latin typeface="맑은 고딕"/>
              </a:rPr>
              <a:t>일정 단위 팩트체크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8521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지금은 개별 조각(place·food)을 검증. 다음은 사용자가 만든 하루/전 일정을 통째로 팩트체크.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78640" y="2743200"/>
            <a:ext cx="539496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0" y="30175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67A34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0" y="420624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D2A26"/>
                </a:solidFill>
                <a:latin typeface="맑은 고딕"/>
              </a:rPr>
              <a:t>다국어 · locale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50292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C8D6F"/>
                </a:solidFill>
                <a:latin typeface="맑은 고딕"/>
              </a:rPr>
              <a:t>비짓제주 en / cn / 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0" y="58521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A554F"/>
                </a:solidFill>
                <a:latin typeface="맑은 고딕"/>
              </a:rPr>
              <a:t>우리 스키마는 이미 locale-agnostic. UI 문구만 로컬라이즈하면 해외 여행자용으로 확장 가능.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8"/>
                </a:solidFill>
                <a:latin typeface="맑은 고딕"/>
              </a:rPr>
              <a:t>PACK YOUR JEJU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868680"/>
            <a:ext cx="16642080" cy="20000"/>
          </a:xfrm>
          <a:prstGeom prst="rect">
            <a:avLst/>
          </a:prstGeom>
          <a:solidFill>
            <a:srgbClr val="E9D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C8D6F"/>
                </a:solidFill>
                <a:latin typeface="맑은 고딕"/>
              </a:rPr>
              <a:t>회고 (Retrospective)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D2A26"/>
                </a:solidFill>
                <a:latin typeface="맑은 고딕"/>
              </a:rPr>
              <a:t>Keep · Problem · 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39496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3017520"/>
            <a:ext cx="4663440" cy="548640"/>
          </a:xfrm>
          <a:prstGeom prst="roundRect">
            <a:avLst>
              <a:gd name="adj" fmla="val 50000"/>
            </a:avLst>
          </a:prstGeom>
          <a:solidFill>
            <a:srgbClr val="DDF0E6"/>
          </a:solidFill>
          <a:ln w="6350">
            <a:solidFill>
              <a:srgbClr val="3C8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300" b="1">
                <a:solidFill>
                  <a:srgbClr val="3C8D6F"/>
                </a:solidFill>
                <a:latin typeface="맑은 고딕"/>
              </a:rPr>
              <a:t>Keep — 잘한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466344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1,686건 실증 데이터를 오프닝에 넣은 것 — 문제 정의 강도 확 오름.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LLM에 사실 생성 권한을 안 준 원칙 · 예외 없이 지킨 것.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골든셋 12문항 게이트를 실제 exit(1)로 코딩 · '말이 아니라 화면'.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하루방 캐릭터로 정직 원칙을 사용자에게 전달 · UX가 정체성과 정합.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여행 저널 PDF · 근거를 실물로 남길 수 있게 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39496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3017520"/>
            <a:ext cx="4663440" cy="54864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300" b="1">
                <a:solidFill>
                  <a:srgbClr val="D97706"/>
                </a:solidFill>
                <a:latin typeface="맑은 고딕"/>
              </a:rPr>
              <a:t>Problem — 아쉬운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840480"/>
            <a:ext cx="466344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위생등급 CSV 미적재 · 배지 하나가 완성 안 됨 (P2 스킵).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Railway Docker 빌드 실패(fonts-nanum-coding)로 배포 지연 1시간.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OPENAI_API_KEY 미설정 상태로 LLM 감성 문구는 템플릿 폴백만.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커버리지가 아직 제주 12개 지역에 한정 — 확장 로드맵으로 정직 안내.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978640" y="2743200"/>
            <a:ext cx="5394960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344400" y="3017520"/>
            <a:ext cx="4663440" cy="548640"/>
          </a:xfrm>
          <a:prstGeom prst="roundRect">
            <a:avLst>
              <a:gd name="adj" fmla="val 50000"/>
            </a:avLst>
          </a:prstGeom>
          <a:solidFill>
            <a:srgbClr val="FFE7D3"/>
          </a:solidFill>
          <a:ln w="6350">
            <a:solidFill>
              <a:srgbClr val="C55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300" b="1">
                <a:solidFill>
                  <a:srgbClr val="C55A18"/>
                </a:solidFill>
                <a:latin typeface="맑은 고딕"/>
              </a:rPr>
              <a:t>Try — 다음에 시도할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3840480"/>
            <a:ext cx="466344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지역 팩 어댑터 계층 추상화 · 부산 팩 프로토타입.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여행 일정 전체 팩트체크 (개별 조각 → 조합).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OPENAI_API_KEY 확보 후 감성 문구 · 하루방 reason 라이브 활성.</a:t>
            </a:r>
          </a:p>
          <a:p>
            <a:pPr algn="l">
              <a:lnSpc>
                <a:spcPct val="155000"/>
              </a:lnSpc>
            </a:pPr>
            <a:r>
              <a:rPr sz="1300" b="0">
                <a:solidFill>
                  <a:srgbClr val="2D2A26"/>
                </a:solidFill>
                <a:latin typeface="맑은 고딕"/>
              </a:rPr>
              <a:t>· 골든셋 문항 확장 (15 → 30) · 실증 케이스 커버.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9784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Pack Your Jeju · 아이펠톤 발표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0" y="9784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A554F"/>
                </a:solidFill>
                <a:latin typeface="맑은 고딕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0"/>
            <a:ext cx="18288000" cy="137160"/>
          </a:xfrm>
          <a:prstGeom prst="rect">
            <a:avLst/>
          </a:prstGeom>
          <a:solidFill>
            <a:srgbClr val="E67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15544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FFFFFF"/>
                </a:solidFill>
                <a:latin typeface="맑은 고딕"/>
              </a:rPr>
              <a:t>감사합니다.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212080"/>
            <a:ext cx="15544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E7D3"/>
                </a:solidFill>
                <a:latin typeface="맑은 고딕"/>
              </a:rPr>
              <a:t>"근거가 있는 것만 말합니다.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E7D3"/>
                </a:solidFill>
                <a:latin typeface="맑은 고딕"/>
              </a:rPr>
              <a:t> 최신 정보만 답합니다.</a:t>
            </a:r>
          </a:p>
          <a:p>
            <a:pPr algn="l">
              <a:lnSpc>
                <a:spcPct val="140000"/>
              </a:lnSpc>
            </a:pPr>
            <a:r>
              <a:rPr sz="2200" b="1">
                <a:solidFill>
                  <a:srgbClr val="FFE7D3"/>
                </a:solidFill>
                <a:latin typeface="맑은 고딕"/>
              </a:rPr>
              <a:t> 지어내지 않습니다."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9052560"/>
            <a:ext cx="1554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DF6EA"/>
                </a:solidFill>
                <a:latin typeface="맑은 고딕"/>
              </a:rPr>
              <a:t>Pack Your Jeju  ·  pack-your-jeju.vercel.app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